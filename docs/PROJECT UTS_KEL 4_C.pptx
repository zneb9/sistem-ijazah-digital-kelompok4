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lfa Slab One" charset="1" panose="00000500000000000000"/>
      <p:regular r:id="rId17"/>
    </p:embeddedFont>
    <p:embeddedFont>
      <p:font typeface="Hind Jalandhar Bold" charset="1" panose="02000000000000000000"/>
      <p:regular r:id="rId18"/>
    </p:embeddedFont>
    <p:embeddedFont>
      <p:font typeface="Hind Jalandhar" charset="1" panose="02000000000000000000"/>
      <p:regular r:id="rId19"/>
    </p:embeddedFont>
    <p:embeddedFont>
      <p:font typeface="Hind Jalandhar Semi-Bold" charset="1" panose="02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embeddings/oleObject1.bin" Type="http://schemas.openxmlformats.org/officeDocument/2006/relationships/oleObject"/><Relationship Id="rId2" Target="../media/image9.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embeddings/oleObject2.bin" Type="http://schemas.openxmlformats.org/officeDocument/2006/relationships/oleObject"/><Relationship Id="rId2" Target="../media/image9.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2" Target="../media/image9.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png" Type="http://schemas.openxmlformats.org/officeDocument/2006/relationships/image"/><Relationship Id="rId12" Target="../media/image17.png" Type="http://schemas.openxmlformats.org/officeDocument/2006/relationships/image"/><Relationship Id="rId2" Target="../media/image9.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2" Target="../media/image9.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embeddings/oleObject3.bin" Type="http://schemas.openxmlformats.org/officeDocument/2006/relationships/oleObject"/><Relationship Id="rId2" Target="../media/image9.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70129"/>
        </a:solidFill>
      </p:bgPr>
    </p:bg>
    <p:spTree>
      <p:nvGrpSpPr>
        <p:cNvPr id="1" name=""/>
        <p:cNvGrpSpPr/>
        <p:nvPr/>
      </p:nvGrpSpPr>
      <p:grpSpPr>
        <a:xfrm>
          <a:off x="0" y="0"/>
          <a:ext cx="0" cy="0"/>
          <a:chOff x="0" y="0"/>
          <a:chExt cx="0" cy="0"/>
        </a:xfrm>
      </p:grpSpPr>
      <p:sp>
        <p:nvSpPr>
          <p:cNvPr name="Freeform 2" id="2"/>
          <p:cNvSpPr/>
          <p:nvPr/>
        </p:nvSpPr>
        <p:spPr>
          <a:xfrm flipH="false" flipV="false" rot="0">
            <a:off x="-1074052" y="-780754"/>
            <a:ext cx="4476658" cy="4476658"/>
          </a:xfrm>
          <a:custGeom>
            <a:avLst/>
            <a:gdLst/>
            <a:ahLst/>
            <a:cxnLst/>
            <a:rect r="r" b="b" t="t" l="l"/>
            <a:pathLst>
              <a:path h="4476658" w="4476658">
                <a:moveTo>
                  <a:pt x="0" y="0"/>
                </a:moveTo>
                <a:lnTo>
                  <a:pt x="4476659" y="0"/>
                </a:lnTo>
                <a:lnTo>
                  <a:pt x="4476659" y="4476658"/>
                </a:lnTo>
                <a:lnTo>
                  <a:pt x="0" y="4476658"/>
                </a:lnTo>
                <a:lnTo>
                  <a:pt x="0" y="0"/>
                </a:lnTo>
                <a:close/>
              </a:path>
            </a:pathLst>
          </a:custGeom>
          <a:blipFill>
            <a:blip r:embed="rId2"/>
            <a:stretch>
              <a:fillRect l="0" t="0" r="0" b="0"/>
            </a:stretch>
          </a:blipFill>
        </p:spPr>
      </p:sp>
      <p:sp>
        <p:nvSpPr>
          <p:cNvPr name="TextBox 3" id="3"/>
          <p:cNvSpPr txBox="true"/>
          <p:nvPr/>
        </p:nvSpPr>
        <p:spPr>
          <a:xfrm rot="0">
            <a:off x="3402607" y="1788062"/>
            <a:ext cx="11482787" cy="4978399"/>
          </a:xfrm>
          <a:prstGeom prst="rect">
            <a:avLst/>
          </a:prstGeom>
        </p:spPr>
        <p:txBody>
          <a:bodyPr anchor="t" rtlCol="false" tIns="0" lIns="0" bIns="0" rIns="0">
            <a:spAutoFit/>
          </a:bodyPr>
          <a:lstStyle/>
          <a:p>
            <a:pPr algn="ctr">
              <a:lnSpc>
                <a:spcPts val="9699"/>
              </a:lnSpc>
            </a:pPr>
            <a:r>
              <a:rPr lang="en-US" sz="9999">
                <a:solidFill>
                  <a:srgbClr val="FFFFFF"/>
                </a:solidFill>
                <a:latin typeface="Alfa Slab One"/>
                <a:ea typeface="Alfa Slab One"/>
                <a:cs typeface="Alfa Slab One"/>
                <a:sym typeface="Alfa Slab One"/>
              </a:rPr>
              <a:t>Sistem Verifikasi Ijazah &amp; </a:t>
            </a:r>
            <a:r>
              <a:rPr lang="en-US" sz="9999">
                <a:solidFill>
                  <a:srgbClr val="FFFFFF"/>
                </a:solidFill>
                <a:latin typeface="Alfa Slab One"/>
                <a:ea typeface="Alfa Slab One"/>
                <a:cs typeface="Alfa Slab One"/>
                <a:sym typeface="Alfa Slab One"/>
              </a:rPr>
              <a:t>Gelar Akademik</a:t>
            </a:r>
          </a:p>
        </p:txBody>
      </p:sp>
      <p:sp>
        <p:nvSpPr>
          <p:cNvPr name="Freeform 4" id="4"/>
          <p:cNvSpPr/>
          <p:nvPr/>
        </p:nvSpPr>
        <p:spPr>
          <a:xfrm flipH="false" flipV="false" rot="0">
            <a:off x="0" y="4469997"/>
            <a:ext cx="4386532" cy="6031481"/>
          </a:xfrm>
          <a:custGeom>
            <a:avLst/>
            <a:gdLst/>
            <a:ahLst/>
            <a:cxnLst/>
            <a:rect r="r" b="b" t="t" l="l"/>
            <a:pathLst>
              <a:path h="6031481" w="4386532">
                <a:moveTo>
                  <a:pt x="0" y="0"/>
                </a:moveTo>
                <a:lnTo>
                  <a:pt x="4386532" y="0"/>
                </a:lnTo>
                <a:lnTo>
                  <a:pt x="4386532" y="6031481"/>
                </a:lnTo>
                <a:lnTo>
                  <a:pt x="0" y="60314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558699" y="-1767537"/>
            <a:ext cx="5317420" cy="5143396"/>
          </a:xfrm>
          <a:custGeom>
            <a:avLst/>
            <a:gdLst/>
            <a:ahLst/>
            <a:cxnLst/>
            <a:rect r="r" b="b" t="t" l="l"/>
            <a:pathLst>
              <a:path h="5143396" w="5317420">
                <a:moveTo>
                  <a:pt x="0" y="0"/>
                </a:moveTo>
                <a:lnTo>
                  <a:pt x="5317420" y="0"/>
                </a:lnTo>
                <a:lnTo>
                  <a:pt x="5317420" y="5143396"/>
                </a:lnTo>
                <a:lnTo>
                  <a:pt x="0" y="51433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4729301" y="-1872444"/>
            <a:ext cx="6963438" cy="3969160"/>
          </a:xfrm>
          <a:custGeom>
            <a:avLst/>
            <a:gdLst/>
            <a:ahLst/>
            <a:cxnLst/>
            <a:rect r="r" b="b" t="t" l="l"/>
            <a:pathLst>
              <a:path h="3969160" w="6963438">
                <a:moveTo>
                  <a:pt x="0" y="0"/>
                </a:moveTo>
                <a:lnTo>
                  <a:pt x="6963438" y="0"/>
                </a:lnTo>
                <a:lnTo>
                  <a:pt x="6963438" y="3969159"/>
                </a:lnTo>
                <a:lnTo>
                  <a:pt x="0" y="3969159"/>
                </a:lnTo>
                <a:lnTo>
                  <a:pt x="0" y="0"/>
                </a:lnTo>
                <a:close/>
              </a:path>
            </a:pathLst>
          </a:custGeom>
          <a:blipFill>
            <a:blip r:embed="rId7"/>
            <a:stretch>
              <a:fillRect l="0" t="0" r="0" b="0"/>
            </a:stretch>
          </a:blipFill>
        </p:spPr>
      </p:sp>
      <p:sp>
        <p:nvSpPr>
          <p:cNvPr name="Freeform 7" id="7"/>
          <p:cNvSpPr/>
          <p:nvPr/>
        </p:nvSpPr>
        <p:spPr>
          <a:xfrm flipH="false" flipV="false" rot="0">
            <a:off x="5417020" y="7742321"/>
            <a:ext cx="5588000" cy="4114800"/>
          </a:xfrm>
          <a:custGeom>
            <a:avLst/>
            <a:gdLst/>
            <a:ahLst/>
            <a:cxnLst/>
            <a:rect r="r" b="b" t="t" l="l"/>
            <a:pathLst>
              <a:path h="4114800" w="5588000">
                <a:moveTo>
                  <a:pt x="0" y="0"/>
                </a:moveTo>
                <a:lnTo>
                  <a:pt x="5588000" y="0"/>
                </a:lnTo>
                <a:lnTo>
                  <a:pt x="55880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1692739" y="5143500"/>
            <a:ext cx="6993953" cy="6609285"/>
          </a:xfrm>
          <a:custGeom>
            <a:avLst/>
            <a:gdLst/>
            <a:ahLst/>
            <a:cxnLst/>
            <a:rect r="r" b="b" t="t" l="l"/>
            <a:pathLst>
              <a:path h="6609285" w="6993953">
                <a:moveTo>
                  <a:pt x="0" y="0"/>
                </a:moveTo>
                <a:lnTo>
                  <a:pt x="6993952" y="0"/>
                </a:lnTo>
                <a:lnTo>
                  <a:pt x="6993952" y="6609285"/>
                </a:lnTo>
                <a:lnTo>
                  <a:pt x="0" y="6609285"/>
                </a:lnTo>
                <a:lnTo>
                  <a:pt x="0" y="0"/>
                </a:lnTo>
                <a:close/>
              </a:path>
            </a:pathLst>
          </a:custGeom>
          <a:blipFill>
            <a:blip r:embed="rId10"/>
            <a:stretch>
              <a:fillRect l="0" t="0" r="0" b="0"/>
            </a:stretch>
          </a:blipFill>
        </p:spPr>
      </p:sp>
      <p:sp>
        <p:nvSpPr>
          <p:cNvPr name="TextBox 9" id="9"/>
          <p:cNvSpPr txBox="true"/>
          <p:nvPr/>
        </p:nvSpPr>
        <p:spPr>
          <a:xfrm rot="0">
            <a:off x="4729301" y="6956961"/>
            <a:ext cx="8829398" cy="523875"/>
          </a:xfrm>
          <a:prstGeom prst="rect">
            <a:avLst/>
          </a:prstGeom>
        </p:spPr>
        <p:txBody>
          <a:bodyPr anchor="t" rtlCol="false" tIns="0" lIns="0" bIns="0" rIns="0">
            <a:spAutoFit/>
          </a:bodyPr>
          <a:lstStyle/>
          <a:p>
            <a:pPr algn="ctr">
              <a:lnSpc>
                <a:spcPts val="4200"/>
              </a:lnSpc>
            </a:pPr>
            <a:r>
              <a:rPr lang="en-US" b="true" sz="3000" spc="32">
                <a:solidFill>
                  <a:srgbClr val="FFFFFF"/>
                </a:solidFill>
                <a:latin typeface="Hind Jalandhar Bold"/>
                <a:ea typeface="Hind Jalandhar Bold"/>
                <a:cs typeface="Hind Jalandhar Bold"/>
                <a:sym typeface="Hind Jalandhar Bold"/>
              </a:rPr>
              <a:t>Dosen </a:t>
            </a:r>
            <a:r>
              <a:rPr lang="en-US" b="true" sz="3000" spc="32">
                <a:solidFill>
                  <a:srgbClr val="FFFFFF"/>
                </a:solidFill>
                <a:latin typeface="Hind Jalandhar Bold"/>
                <a:ea typeface="Hind Jalandhar Bold"/>
                <a:cs typeface="Hind Jalandhar Bold"/>
                <a:sym typeface="Hind Jalandhar Bold"/>
              </a:rPr>
              <a:t>Pengampu: Riani Saputri Abadi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70129"/>
        </a:solidFill>
      </p:bgPr>
    </p:bg>
    <p:spTree>
      <p:nvGrpSpPr>
        <p:cNvPr id="1" name=""/>
        <p:cNvGrpSpPr/>
        <p:nvPr/>
      </p:nvGrpSpPr>
      <p:grpSpPr>
        <a:xfrm>
          <a:off x="0" y="0"/>
          <a:ext cx="0" cy="0"/>
          <a:chOff x="0" y="0"/>
          <a:chExt cx="0" cy="0"/>
        </a:xfrm>
      </p:grpSpPr>
      <p:sp>
        <p:nvSpPr>
          <p:cNvPr name="TextBox 2" id="2"/>
          <p:cNvSpPr txBox="true"/>
          <p:nvPr/>
        </p:nvSpPr>
        <p:spPr>
          <a:xfrm rot="0">
            <a:off x="5871030" y="1700501"/>
            <a:ext cx="6545941" cy="895324"/>
          </a:xfrm>
          <a:prstGeom prst="rect">
            <a:avLst/>
          </a:prstGeom>
        </p:spPr>
        <p:txBody>
          <a:bodyPr anchor="t" rtlCol="false" tIns="0" lIns="0" bIns="0" rIns="0">
            <a:spAutoFit/>
          </a:bodyPr>
          <a:lstStyle/>
          <a:p>
            <a:pPr algn="ctr">
              <a:lnSpc>
                <a:spcPts val="6641"/>
              </a:lnSpc>
            </a:pPr>
            <a:r>
              <a:rPr lang="en-US" sz="6846">
                <a:solidFill>
                  <a:srgbClr val="FFFFFF"/>
                </a:solidFill>
                <a:latin typeface="Alfa Slab One"/>
                <a:ea typeface="Alfa Slab One"/>
                <a:cs typeface="Alfa Slab One"/>
                <a:sym typeface="Alfa Slab One"/>
              </a:rPr>
              <a:t>KELOMPOK 4</a:t>
            </a:r>
          </a:p>
        </p:txBody>
      </p:sp>
      <p:sp>
        <p:nvSpPr>
          <p:cNvPr name="TextBox 3" id="3"/>
          <p:cNvSpPr txBox="true"/>
          <p:nvPr/>
        </p:nvSpPr>
        <p:spPr>
          <a:xfrm rot="0">
            <a:off x="3281798" y="3330575"/>
            <a:ext cx="11724404" cy="3521075"/>
          </a:xfrm>
          <a:prstGeom prst="rect">
            <a:avLst/>
          </a:prstGeom>
        </p:spPr>
        <p:txBody>
          <a:bodyPr anchor="t" rtlCol="false" tIns="0" lIns="0" bIns="0" rIns="0">
            <a:spAutoFit/>
          </a:bodyPr>
          <a:lstStyle/>
          <a:p>
            <a:pPr algn="just">
              <a:lnSpc>
                <a:spcPts val="7000"/>
              </a:lnSpc>
            </a:pPr>
            <a:r>
              <a:rPr lang="en-US" sz="5000" spc="55">
                <a:solidFill>
                  <a:srgbClr val="FFFFFF"/>
                </a:solidFill>
                <a:latin typeface="Hind Jalandhar"/>
                <a:ea typeface="Hind Jalandhar"/>
                <a:cs typeface="Hind Jalandhar"/>
                <a:sym typeface="Hind Jalandhar"/>
              </a:rPr>
              <a:t>1. Ahmad Zulfadhli (202332038)</a:t>
            </a:r>
          </a:p>
          <a:p>
            <a:pPr algn="just">
              <a:lnSpc>
                <a:spcPts val="7000"/>
              </a:lnSpc>
            </a:pPr>
            <a:r>
              <a:rPr lang="en-US" sz="5000" spc="55">
                <a:solidFill>
                  <a:srgbClr val="FFFFFF"/>
                </a:solidFill>
                <a:latin typeface="Hind Jalandhar"/>
                <a:ea typeface="Hind Jalandhar"/>
                <a:cs typeface="Hind Jalandhar"/>
                <a:sym typeface="Hind Jalandhar"/>
              </a:rPr>
              <a:t>2. Benaya J</a:t>
            </a:r>
            <a:r>
              <a:rPr lang="en-US" sz="5000" spc="55">
                <a:solidFill>
                  <a:srgbClr val="FFFFFF"/>
                </a:solidFill>
                <a:latin typeface="Hind Jalandhar"/>
                <a:ea typeface="Hind Jalandhar"/>
                <a:cs typeface="Hind Jalandhar"/>
                <a:sym typeface="Hind Jalandhar"/>
              </a:rPr>
              <a:t>oshrael Tualangi (202332044)</a:t>
            </a:r>
          </a:p>
          <a:p>
            <a:pPr algn="just">
              <a:lnSpc>
                <a:spcPts val="7000"/>
              </a:lnSpc>
            </a:pPr>
            <a:r>
              <a:rPr lang="en-US" sz="5000" spc="55">
                <a:solidFill>
                  <a:srgbClr val="FFFFFF"/>
                </a:solidFill>
                <a:latin typeface="Hind Jalandhar"/>
                <a:ea typeface="Hind Jalandhar"/>
                <a:cs typeface="Hind Jalandhar"/>
                <a:sym typeface="Hind Jalandhar"/>
              </a:rPr>
              <a:t>3. Zahra Maharani (202332047)</a:t>
            </a:r>
          </a:p>
          <a:p>
            <a:pPr algn="just">
              <a:lnSpc>
                <a:spcPts val="7000"/>
              </a:lnSpc>
            </a:pPr>
            <a:r>
              <a:rPr lang="en-US" sz="5000" spc="55">
                <a:solidFill>
                  <a:srgbClr val="FFFFFF"/>
                </a:solidFill>
                <a:latin typeface="Hind Jalandhar"/>
                <a:ea typeface="Hind Jalandhar"/>
                <a:cs typeface="Hind Jalandhar"/>
                <a:sym typeface="Hind Jalandhar"/>
              </a:rPr>
              <a:t>4. Demas Apta Aryamadhan (202332052)</a:t>
            </a:r>
          </a:p>
        </p:txBody>
      </p:sp>
      <p:sp>
        <p:nvSpPr>
          <p:cNvPr name="Freeform 4" id="4"/>
          <p:cNvSpPr/>
          <p:nvPr/>
        </p:nvSpPr>
        <p:spPr>
          <a:xfrm flipH="false" flipV="false" rot="0">
            <a:off x="13315889" y="6265195"/>
            <a:ext cx="4972111" cy="4698645"/>
          </a:xfrm>
          <a:custGeom>
            <a:avLst/>
            <a:gdLst/>
            <a:ahLst/>
            <a:cxnLst/>
            <a:rect r="r" b="b" t="t" l="l"/>
            <a:pathLst>
              <a:path h="4698645" w="4972111">
                <a:moveTo>
                  <a:pt x="0" y="0"/>
                </a:moveTo>
                <a:lnTo>
                  <a:pt x="4972111" y="0"/>
                </a:lnTo>
                <a:lnTo>
                  <a:pt x="4972111" y="4698645"/>
                </a:lnTo>
                <a:lnTo>
                  <a:pt x="0" y="4698645"/>
                </a:lnTo>
                <a:lnTo>
                  <a:pt x="0" y="0"/>
                </a:lnTo>
                <a:close/>
              </a:path>
            </a:pathLst>
          </a:custGeom>
          <a:blipFill>
            <a:blip r:embed="rId2"/>
            <a:stretch>
              <a:fillRect l="0" t="0" r="0" b="0"/>
            </a:stretch>
          </a:blipFill>
        </p:spPr>
      </p:sp>
      <p:sp>
        <p:nvSpPr>
          <p:cNvPr name="Freeform 5" id="5"/>
          <p:cNvSpPr/>
          <p:nvPr/>
        </p:nvSpPr>
        <p:spPr>
          <a:xfrm flipH="false" flipV="false" rot="2594485">
            <a:off x="-1037073" y="3408482"/>
            <a:ext cx="3350251" cy="2467003"/>
          </a:xfrm>
          <a:custGeom>
            <a:avLst/>
            <a:gdLst/>
            <a:ahLst/>
            <a:cxnLst/>
            <a:rect r="r" b="b" t="t" l="l"/>
            <a:pathLst>
              <a:path h="2467003" w="3350251">
                <a:moveTo>
                  <a:pt x="0" y="0"/>
                </a:moveTo>
                <a:lnTo>
                  <a:pt x="3350252" y="0"/>
                </a:lnTo>
                <a:lnTo>
                  <a:pt x="3350252"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5801944" y="-383505"/>
            <a:ext cx="4386532" cy="6031481"/>
          </a:xfrm>
          <a:custGeom>
            <a:avLst/>
            <a:gdLst/>
            <a:ahLst/>
            <a:cxnLst/>
            <a:rect r="r" b="b" t="t" l="l"/>
            <a:pathLst>
              <a:path h="6031481" w="4386532">
                <a:moveTo>
                  <a:pt x="0" y="0"/>
                </a:moveTo>
                <a:lnTo>
                  <a:pt x="4386532" y="0"/>
                </a:lnTo>
                <a:lnTo>
                  <a:pt x="4386532" y="6031481"/>
                </a:lnTo>
                <a:lnTo>
                  <a:pt x="0" y="6031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928595" y="-2751419"/>
            <a:ext cx="5317420" cy="5143396"/>
          </a:xfrm>
          <a:custGeom>
            <a:avLst/>
            <a:gdLst/>
            <a:ahLst/>
            <a:cxnLst/>
            <a:rect r="r" b="b" t="t" l="l"/>
            <a:pathLst>
              <a:path h="5143396" w="5317420">
                <a:moveTo>
                  <a:pt x="0" y="0"/>
                </a:moveTo>
                <a:lnTo>
                  <a:pt x="5317420" y="0"/>
                </a:lnTo>
                <a:lnTo>
                  <a:pt x="5317420" y="5143396"/>
                </a:lnTo>
                <a:lnTo>
                  <a:pt x="0" y="514339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21460" y="7019971"/>
            <a:ext cx="4476658" cy="4476658"/>
          </a:xfrm>
          <a:custGeom>
            <a:avLst/>
            <a:gdLst/>
            <a:ahLst/>
            <a:cxnLst/>
            <a:rect r="r" b="b" t="t" l="l"/>
            <a:pathLst>
              <a:path h="4476658" w="4476658">
                <a:moveTo>
                  <a:pt x="0" y="0"/>
                </a:moveTo>
                <a:lnTo>
                  <a:pt x="4476659" y="0"/>
                </a:lnTo>
                <a:lnTo>
                  <a:pt x="4476659" y="4476658"/>
                </a:lnTo>
                <a:lnTo>
                  <a:pt x="0" y="4476658"/>
                </a:lnTo>
                <a:lnTo>
                  <a:pt x="0" y="0"/>
                </a:lnTo>
                <a:close/>
              </a:path>
            </a:pathLst>
          </a:custGeom>
          <a:blipFill>
            <a:blip r:embed="rId9"/>
            <a:stretch>
              <a:fillRect l="0" t="0" r="0" b="0"/>
            </a:stretch>
          </a:blipFill>
        </p:spPr>
      </p:sp>
      <p:sp>
        <p:nvSpPr>
          <p:cNvPr name="Freeform 9" id="9"/>
          <p:cNvSpPr/>
          <p:nvPr/>
        </p:nvSpPr>
        <p:spPr>
          <a:xfrm flipH="false" flipV="false" rot="2594485">
            <a:off x="6507829" y="9271115"/>
            <a:ext cx="3350251" cy="2467003"/>
          </a:xfrm>
          <a:custGeom>
            <a:avLst/>
            <a:gdLst/>
            <a:ahLst/>
            <a:cxnLst/>
            <a:rect r="r" b="b" t="t" l="l"/>
            <a:pathLst>
              <a:path h="2467003" w="3350251">
                <a:moveTo>
                  <a:pt x="0" y="0"/>
                </a:moveTo>
                <a:lnTo>
                  <a:pt x="3350251" y="0"/>
                </a:lnTo>
                <a:lnTo>
                  <a:pt x="3350251"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2594485">
            <a:off x="12394156" y="-887683"/>
            <a:ext cx="3350251" cy="2467003"/>
          </a:xfrm>
          <a:custGeom>
            <a:avLst/>
            <a:gdLst/>
            <a:ahLst/>
            <a:cxnLst/>
            <a:rect r="r" b="b" t="t" l="l"/>
            <a:pathLst>
              <a:path h="2467003" w="3350251">
                <a:moveTo>
                  <a:pt x="0" y="0"/>
                </a:moveTo>
                <a:lnTo>
                  <a:pt x="3350251" y="0"/>
                </a:lnTo>
                <a:lnTo>
                  <a:pt x="3350251"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70129"/>
        </a:solidFill>
      </p:bgPr>
    </p:bg>
    <p:spTree>
      <p:nvGrpSpPr>
        <p:cNvPr id="1" name=""/>
        <p:cNvGrpSpPr/>
        <p:nvPr/>
      </p:nvGrpSpPr>
      <p:grpSpPr>
        <a:xfrm>
          <a:off x="0" y="0"/>
          <a:ext cx="0" cy="0"/>
          <a:chOff x="0" y="0"/>
          <a:chExt cx="0" cy="0"/>
        </a:xfrm>
      </p:grpSpPr>
      <p:sp>
        <p:nvSpPr>
          <p:cNvPr name="TextBox 2" id="2"/>
          <p:cNvSpPr txBox="true"/>
          <p:nvPr/>
        </p:nvSpPr>
        <p:spPr>
          <a:xfrm rot="0">
            <a:off x="4672470" y="1171575"/>
            <a:ext cx="9751781" cy="895324"/>
          </a:xfrm>
          <a:prstGeom prst="rect">
            <a:avLst/>
          </a:prstGeom>
        </p:spPr>
        <p:txBody>
          <a:bodyPr anchor="t" rtlCol="false" tIns="0" lIns="0" bIns="0" rIns="0">
            <a:spAutoFit/>
          </a:bodyPr>
          <a:lstStyle/>
          <a:p>
            <a:pPr algn="ctr">
              <a:lnSpc>
                <a:spcPts val="6641"/>
              </a:lnSpc>
            </a:pPr>
            <a:r>
              <a:rPr lang="en-US" sz="6846">
                <a:solidFill>
                  <a:srgbClr val="FFFFFF"/>
                </a:solidFill>
                <a:latin typeface="Alfa Slab One"/>
                <a:ea typeface="Alfa Slab One"/>
                <a:cs typeface="Alfa Slab One"/>
                <a:sym typeface="Alfa Slab One"/>
              </a:rPr>
              <a:t>LATAR BELAKANG</a:t>
            </a:r>
          </a:p>
        </p:txBody>
      </p:sp>
      <p:sp>
        <p:nvSpPr>
          <p:cNvPr name="Freeform 3" id="3"/>
          <p:cNvSpPr/>
          <p:nvPr/>
        </p:nvSpPr>
        <p:spPr>
          <a:xfrm flipH="false" flipV="false" rot="0">
            <a:off x="13658229" y="6551981"/>
            <a:ext cx="4972111" cy="4698645"/>
          </a:xfrm>
          <a:custGeom>
            <a:avLst/>
            <a:gdLst/>
            <a:ahLst/>
            <a:cxnLst/>
            <a:rect r="r" b="b" t="t" l="l"/>
            <a:pathLst>
              <a:path h="4698645" w="4972111">
                <a:moveTo>
                  <a:pt x="0" y="0"/>
                </a:moveTo>
                <a:lnTo>
                  <a:pt x="4972111" y="0"/>
                </a:lnTo>
                <a:lnTo>
                  <a:pt x="4972111" y="4698645"/>
                </a:lnTo>
                <a:lnTo>
                  <a:pt x="0" y="4698645"/>
                </a:lnTo>
                <a:lnTo>
                  <a:pt x="0" y="0"/>
                </a:lnTo>
                <a:close/>
              </a:path>
            </a:pathLst>
          </a:custGeom>
          <a:blipFill>
            <a:blip r:embed="rId2"/>
            <a:stretch>
              <a:fillRect l="0" t="0" r="0" b="0"/>
            </a:stretch>
          </a:blipFill>
        </p:spPr>
      </p:sp>
      <p:sp>
        <p:nvSpPr>
          <p:cNvPr name="Freeform 4" id="4"/>
          <p:cNvSpPr/>
          <p:nvPr/>
        </p:nvSpPr>
        <p:spPr>
          <a:xfrm flipH="false" flipV="false" rot="2594485">
            <a:off x="-1037073" y="3408482"/>
            <a:ext cx="3350251" cy="2467003"/>
          </a:xfrm>
          <a:custGeom>
            <a:avLst/>
            <a:gdLst/>
            <a:ahLst/>
            <a:cxnLst/>
            <a:rect r="r" b="b" t="t" l="l"/>
            <a:pathLst>
              <a:path h="2467003" w="3350251">
                <a:moveTo>
                  <a:pt x="0" y="0"/>
                </a:moveTo>
                <a:lnTo>
                  <a:pt x="3350252" y="0"/>
                </a:lnTo>
                <a:lnTo>
                  <a:pt x="3350252"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312184" y="-623764"/>
            <a:ext cx="4386532" cy="6031481"/>
          </a:xfrm>
          <a:custGeom>
            <a:avLst/>
            <a:gdLst/>
            <a:ahLst/>
            <a:cxnLst/>
            <a:rect r="r" b="b" t="t" l="l"/>
            <a:pathLst>
              <a:path h="6031481" w="4386532">
                <a:moveTo>
                  <a:pt x="0" y="0"/>
                </a:moveTo>
                <a:lnTo>
                  <a:pt x="4386532" y="0"/>
                </a:lnTo>
                <a:lnTo>
                  <a:pt x="4386532" y="6031481"/>
                </a:lnTo>
                <a:lnTo>
                  <a:pt x="0" y="6031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928595" y="-2751419"/>
            <a:ext cx="5317420" cy="5143396"/>
          </a:xfrm>
          <a:custGeom>
            <a:avLst/>
            <a:gdLst/>
            <a:ahLst/>
            <a:cxnLst/>
            <a:rect r="r" b="b" t="t" l="l"/>
            <a:pathLst>
              <a:path h="5143396" w="5317420">
                <a:moveTo>
                  <a:pt x="0" y="0"/>
                </a:moveTo>
                <a:lnTo>
                  <a:pt x="5317420" y="0"/>
                </a:lnTo>
                <a:lnTo>
                  <a:pt x="5317420" y="5143396"/>
                </a:lnTo>
                <a:lnTo>
                  <a:pt x="0" y="514339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427272" y="7506934"/>
            <a:ext cx="4476658" cy="4476658"/>
          </a:xfrm>
          <a:custGeom>
            <a:avLst/>
            <a:gdLst/>
            <a:ahLst/>
            <a:cxnLst/>
            <a:rect r="r" b="b" t="t" l="l"/>
            <a:pathLst>
              <a:path h="4476658" w="4476658">
                <a:moveTo>
                  <a:pt x="0" y="0"/>
                </a:moveTo>
                <a:lnTo>
                  <a:pt x="4476659" y="0"/>
                </a:lnTo>
                <a:lnTo>
                  <a:pt x="4476659" y="4476658"/>
                </a:lnTo>
                <a:lnTo>
                  <a:pt x="0" y="4476658"/>
                </a:lnTo>
                <a:lnTo>
                  <a:pt x="0" y="0"/>
                </a:lnTo>
                <a:close/>
              </a:path>
            </a:pathLst>
          </a:custGeom>
          <a:blipFill>
            <a:blip r:embed="rId9"/>
            <a:stretch>
              <a:fillRect l="0" t="0" r="0" b="0"/>
            </a:stretch>
          </a:blipFill>
        </p:spPr>
      </p:sp>
      <p:sp>
        <p:nvSpPr>
          <p:cNvPr name="Freeform 8" id="8"/>
          <p:cNvSpPr/>
          <p:nvPr/>
        </p:nvSpPr>
        <p:spPr>
          <a:xfrm flipH="false" flipV="false" rot="2594485">
            <a:off x="6507829" y="9271115"/>
            <a:ext cx="3350251" cy="2467003"/>
          </a:xfrm>
          <a:custGeom>
            <a:avLst/>
            <a:gdLst/>
            <a:ahLst/>
            <a:cxnLst/>
            <a:rect r="r" b="b" t="t" l="l"/>
            <a:pathLst>
              <a:path h="2467003" w="3350251">
                <a:moveTo>
                  <a:pt x="0" y="0"/>
                </a:moveTo>
                <a:lnTo>
                  <a:pt x="3350251" y="0"/>
                </a:lnTo>
                <a:lnTo>
                  <a:pt x="3350251"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2594485">
            <a:off x="12394156" y="-887683"/>
            <a:ext cx="3350251" cy="2467003"/>
          </a:xfrm>
          <a:custGeom>
            <a:avLst/>
            <a:gdLst/>
            <a:ahLst/>
            <a:cxnLst/>
            <a:rect r="r" b="b" t="t" l="l"/>
            <a:pathLst>
              <a:path h="2467003" w="3350251">
                <a:moveTo>
                  <a:pt x="0" y="0"/>
                </a:moveTo>
                <a:lnTo>
                  <a:pt x="3350251" y="0"/>
                </a:lnTo>
                <a:lnTo>
                  <a:pt x="3350251"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2155544" y="2344352"/>
            <a:ext cx="14785634" cy="6556952"/>
          </a:xfrm>
          <a:prstGeom prst="rect">
            <a:avLst/>
          </a:prstGeom>
        </p:spPr>
        <p:txBody>
          <a:bodyPr anchor="t" rtlCol="false" tIns="0" lIns="0" bIns="0" rIns="0">
            <a:spAutoFit/>
          </a:bodyPr>
          <a:lstStyle/>
          <a:p>
            <a:pPr algn="just">
              <a:lnSpc>
                <a:spcPts val="3468"/>
              </a:lnSpc>
            </a:pPr>
            <a:r>
              <a:rPr lang="en-US" sz="2477" spc="27">
                <a:solidFill>
                  <a:srgbClr val="FFFFFF"/>
                </a:solidFill>
                <a:latin typeface="Hind Jalandhar"/>
                <a:ea typeface="Hind Jalandhar"/>
                <a:cs typeface="Hind Jalandhar"/>
                <a:sym typeface="Hind Jalandhar"/>
              </a:rPr>
              <a:t>Pemalsuan ijazah dan gelar akademik masih menjadi masalah serius di Indonesia. Berdasarkan data dari Kementerian Pendidikan, Kebudayaan, Riset, dan Teknologi, puluhan kasus pemalsuan ijazah terungkap setiap tahunnya. Praktik ini merugikan banyak pihak, mulai dari perusahaan yang merekrut karyawan tidak kompeten, institusi pendidikan yang kehilangan kredibilitas, hingga masyarakat luas yang berhak mendapatkan pelayanan dari individu yang berkualifikasi.</a:t>
            </a:r>
          </a:p>
          <a:p>
            <a:pPr algn="just">
              <a:lnSpc>
                <a:spcPts val="3468"/>
              </a:lnSpc>
            </a:pPr>
          </a:p>
          <a:p>
            <a:pPr algn="just">
              <a:lnSpc>
                <a:spcPts val="3468"/>
              </a:lnSpc>
            </a:pPr>
            <a:r>
              <a:rPr lang="en-US" sz="2477" spc="27">
                <a:solidFill>
                  <a:srgbClr val="FFFFFF"/>
                </a:solidFill>
                <a:latin typeface="Hind Jalandhar"/>
                <a:ea typeface="Hind Jalandhar"/>
                <a:cs typeface="Hind Jalandhar"/>
                <a:sym typeface="Hind Jalandhar"/>
              </a:rPr>
              <a:t>Sistem verifikasi konvensional yang ada saat ini memiliki tiga kelemahan utama. </a:t>
            </a:r>
            <a:r>
              <a:rPr lang="en-US" b="true" sz="2477" spc="27">
                <a:solidFill>
                  <a:srgbClr val="FFFFFF"/>
                </a:solidFill>
                <a:latin typeface="Hind Jalandhar Semi-Bold"/>
                <a:ea typeface="Hind Jalandhar Semi-Bold"/>
                <a:cs typeface="Hind Jalandhar Semi-Bold"/>
                <a:sym typeface="Hind Jalandhar Semi-Bold"/>
              </a:rPr>
              <a:t>Pertama</a:t>
            </a:r>
            <a:r>
              <a:rPr lang="en-US" sz="2477" spc="27">
                <a:solidFill>
                  <a:srgbClr val="FFFFFF"/>
                </a:solidFill>
                <a:latin typeface="Hind Jalandhar"/>
                <a:ea typeface="Hind Jalandhar"/>
                <a:cs typeface="Hind Jalandhar"/>
                <a:sym typeface="Hind Jalandhar"/>
              </a:rPr>
              <a:t>, database terpusat yang digunakan rawan terhadap manipulasi internal dan serangan peretasan. </a:t>
            </a:r>
            <a:r>
              <a:rPr lang="en-US" b="true" sz="2477" spc="27">
                <a:solidFill>
                  <a:srgbClr val="FFFFFF"/>
                </a:solidFill>
                <a:latin typeface="Hind Jalandhar Semi-Bold"/>
                <a:ea typeface="Hind Jalandhar Semi-Bold"/>
                <a:cs typeface="Hind Jalandhar Semi-Bold"/>
                <a:sym typeface="Hind Jalandhar Semi-Bold"/>
              </a:rPr>
              <a:t>Kedua</a:t>
            </a:r>
            <a:r>
              <a:rPr lang="en-US" sz="2477" spc="27">
                <a:solidFill>
                  <a:srgbClr val="FFFFFF"/>
                </a:solidFill>
                <a:latin typeface="Hind Jalandhar"/>
                <a:ea typeface="Hind Jalandhar"/>
                <a:cs typeface="Hind Jalandhar"/>
                <a:sym typeface="Hind Jalandhar"/>
              </a:rPr>
              <a:t>, proses verifikasi membutuhkan waktu berhari-hari karena pihak verifikator harus menghubungi langsung institusi penerbit ijazah. </a:t>
            </a:r>
            <a:r>
              <a:rPr lang="en-US" b="true" sz="2477" spc="27">
                <a:solidFill>
                  <a:srgbClr val="FFFFFF"/>
                </a:solidFill>
                <a:latin typeface="Hind Jalandhar Semi-Bold"/>
                <a:ea typeface="Hind Jalandhar Semi-Bold"/>
                <a:cs typeface="Hind Jalandhar Semi-Bold"/>
                <a:sym typeface="Hind Jalandhar Semi-Bold"/>
              </a:rPr>
              <a:t>Ketiga</a:t>
            </a:r>
            <a:r>
              <a:rPr lang="en-US" sz="2477" spc="27">
                <a:solidFill>
                  <a:srgbClr val="FFFFFF"/>
                </a:solidFill>
                <a:latin typeface="Hind Jalandhar"/>
                <a:ea typeface="Hind Jalandhar"/>
                <a:cs typeface="Hind Jalandhar"/>
                <a:sym typeface="Hind Jalandhar"/>
              </a:rPr>
              <a:t>, biaya verifikasi yang tidak sedikit membuat banyak perusahaan enggan memverifikasi seluruh pelamar.</a:t>
            </a:r>
          </a:p>
          <a:p>
            <a:pPr algn="just">
              <a:lnSpc>
                <a:spcPts val="3468"/>
              </a:lnSpc>
            </a:pPr>
          </a:p>
          <a:p>
            <a:pPr algn="just">
              <a:lnSpc>
                <a:spcPts val="3468"/>
              </a:lnSpc>
            </a:pPr>
            <a:r>
              <a:rPr lang="en-US" sz="2477" spc="27">
                <a:solidFill>
                  <a:srgbClr val="FFFFFF"/>
                </a:solidFill>
                <a:latin typeface="Hind Jalandhar"/>
                <a:ea typeface="Hind Jalandhar"/>
                <a:cs typeface="Hind Jalandhar"/>
                <a:sym typeface="Hind Jalandhar"/>
              </a:rPr>
              <a:t>Selain itu, ijazah dalam bentuk fisik juga mudah rusak, hilang, atau dipalsukan. Oleh karena itu, diperlukan sebuah sistem verifikasi yang transparan, tidak dapat dimanipulasi, dan dapat diakses oleh siapa pun tanpa perlu izin. Teknologi blockchain hadir sebagai solusi atas permasalahan ini.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70129"/>
        </a:solidFill>
      </p:bgPr>
    </p:bg>
    <p:spTree>
      <p:nvGrpSpPr>
        <p:cNvPr id="1" name=""/>
        <p:cNvGrpSpPr/>
        <p:nvPr/>
      </p:nvGrpSpPr>
      <p:grpSpPr>
        <a:xfrm>
          <a:off x="0" y="0"/>
          <a:ext cx="0" cy="0"/>
          <a:chOff x="0" y="0"/>
          <a:chExt cx="0" cy="0"/>
        </a:xfrm>
      </p:grpSpPr>
      <p:sp>
        <p:nvSpPr>
          <p:cNvPr name="Freeform 2" id="2"/>
          <p:cNvSpPr/>
          <p:nvPr/>
        </p:nvSpPr>
        <p:spPr>
          <a:xfrm flipH="false" flipV="false" rot="0">
            <a:off x="13315889" y="6265195"/>
            <a:ext cx="4972111" cy="4698645"/>
          </a:xfrm>
          <a:custGeom>
            <a:avLst/>
            <a:gdLst/>
            <a:ahLst/>
            <a:cxnLst/>
            <a:rect r="r" b="b" t="t" l="l"/>
            <a:pathLst>
              <a:path h="4698645" w="4972111">
                <a:moveTo>
                  <a:pt x="0" y="0"/>
                </a:moveTo>
                <a:lnTo>
                  <a:pt x="4972111" y="0"/>
                </a:lnTo>
                <a:lnTo>
                  <a:pt x="4972111" y="4698645"/>
                </a:lnTo>
                <a:lnTo>
                  <a:pt x="0" y="4698645"/>
                </a:lnTo>
                <a:lnTo>
                  <a:pt x="0" y="0"/>
                </a:lnTo>
                <a:close/>
              </a:path>
            </a:pathLst>
          </a:custGeom>
          <a:blipFill>
            <a:blip r:embed="rId2"/>
            <a:stretch>
              <a:fillRect l="0" t="0" r="0" b="0"/>
            </a:stretch>
          </a:blipFill>
        </p:spPr>
      </p:sp>
      <p:sp>
        <p:nvSpPr>
          <p:cNvPr name="Freeform 3" id="3"/>
          <p:cNvSpPr/>
          <p:nvPr/>
        </p:nvSpPr>
        <p:spPr>
          <a:xfrm flipH="false" flipV="false" rot="2594485">
            <a:off x="-1037073" y="3408482"/>
            <a:ext cx="3350251" cy="2467003"/>
          </a:xfrm>
          <a:custGeom>
            <a:avLst/>
            <a:gdLst/>
            <a:ahLst/>
            <a:cxnLst/>
            <a:rect r="r" b="b" t="t" l="l"/>
            <a:pathLst>
              <a:path h="2467003" w="3350251">
                <a:moveTo>
                  <a:pt x="0" y="0"/>
                </a:moveTo>
                <a:lnTo>
                  <a:pt x="3350252" y="0"/>
                </a:lnTo>
                <a:lnTo>
                  <a:pt x="3350252"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801944" y="-383505"/>
            <a:ext cx="4386532" cy="6031481"/>
          </a:xfrm>
          <a:custGeom>
            <a:avLst/>
            <a:gdLst/>
            <a:ahLst/>
            <a:cxnLst/>
            <a:rect r="r" b="b" t="t" l="l"/>
            <a:pathLst>
              <a:path h="6031481" w="4386532">
                <a:moveTo>
                  <a:pt x="0" y="0"/>
                </a:moveTo>
                <a:lnTo>
                  <a:pt x="4386532" y="0"/>
                </a:lnTo>
                <a:lnTo>
                  <a:pt x="4386532" y="6031481"/>
                </a:lnTo>
                <a:lnTo>
                  <a:pt x="0" y="6031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928595" y="-2751419"/>
            <a:ext cx="5317420" cy="5143396"/>
          </a:xfrm>
          <a:custGeom>
            <a:avLst/>
            <a:gdLst/>
            <a:ahLst/>
            <a:cxnLst/>
            <a:rect r="r" b="b" t="t" l="l"/>
            <a:pathLst>
              <a:path h="5143396" w="5317420">
                <a:moveTo>
                  <a:pt x="0" y="0"/>
                </a:moveTo>
                <a:lnTo>
                  <a:pt x="5317420" y="0"/>
                </a:lnTo>
                <a:lnTo>
                  <a:pt x="5317420" y="5143396"/>
                </a:lnTo>
                <a:lnTo>
                  <a:pt x="0" y="514339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209629" y="7569139"/>
            <a:ext cx="4476658" cy="4476658"/>
          </a:xfrm>
          <a:custGeom>
            <a:avLst/>
            <a:gdLst/>
            <a:ahLst/>
            <a:cxnLst/>
            <a:rect r="r" b="b" t="t" l="l"/>
            <a:pathLst>
              <a:path h="4476658" w="4476658">
                <a:moveTo>
                  <a:pt x="0" y="0"/>
                </a:moveTo>
                <a:lnTo>
                  <a:pt x="4476658" y="0"/>
                </a:lnTo>
                <a:lnTo>
                  <a:pt x="4476658" y="4476659"/>
                </a:lnTo>
                <a:lnTo>
                  <a:pt x="0" y="4476659"/>
                </a:lnTo>
                <a:lnTo>
                  <a:pt x="0" y="0"/>
                </a:lnTo>
                <a:close/>
              </a:path>
            </a:pathLst>
          </a:custGeom>
          <a:blipFill>
            <a:blip r:embed="rId9"/>
            <a:stretch>
              <a:fillRect l="0" t="0" r="0" b="0"/>
            </a:stretch>
          </a:blipFill>
        </p:spPr>
      </p:sp>
      <p:sp>
        <p:nvSpPr>
          <p:cNvPr name="TextBox 7" id="7"/>
          <p:cNvSpPr txBox="true"/>
          <p:nvPr/>
        </p:nvSpPr>
        <p:spPr>
          <a:xfrm rot="0">
            <a:off x="1055782" y="3879212"/>
            <a:ext cx="6666085" cy="3489902"/>
          </a:xfrm>
          <a:prstGeom prst="rect">
            <a:avLst/>
          </a:prstGeom>
        </p:spPr>
        <p:txBody>
          <a:bodyPr anchor="t" rtlCol="false" tIns="0" lIns="0" bIns="0" rIns="0">
            <a:spAutoFit/>
          </a:bodyPr>
          <a:lstStyle/>
          <a:p>
            <a:pPr algn="l" marL="534842" indent="-267421" lvl="1">
              <a:lnSpc>
                <a:spcPts val="3468"/>
              </a:lnSpc>
              <a:buAutoNum type="arabicPeriod" startAt="1"/>
            </a:pPr>
            <a:r>
              <a:rPr lang="en-US" sz="2477" spc="27">
                <a:solidFill>
                  <a:srgbClr val="FFFFFF"/>
                </a:solidFill>
                <a:latin typeface="Hind Jalandhar"/>
                <a:ea typeface="Hind Jalandhar"/>
                <a:cs typeface="Hind Jalandhar"/>
                <a:sym typeface="Hind Jalandhar"/>
              </a:rPr>
              <a:t>Baga</a:t>
            </a:r>
            <a:r>
              <a:rPr lang="en-US" sz="2477" spc="27">
                <a:solidFill>
                  <a:srgbClr val="FFFFFF"/>
                </a:solidFill>
                <a:latin typeface="Hind Jalandhar"/>
                <a:ea typeface="Hind Jalandhar"/>
                <a:cs typeface="Hind Jalandhar"/>
                <a:sym typeface="Hind Jalandhar"/>
              </a:rPr>
              <a:t>imana merancang sistem verifikasi ijazah berbasis blockchain?</a:t>
            </a:r>
          </a:p>
          <a:p>
            <a:pPr algn="l" marL="534842" indent="-267421" lvl="1">
              <a:lnSpc>
                <a:spcPts val="3468"/>
              </a:lnSpc>
              <a:buAutoNum type="arabicPeriod" startAt="1"/>
            </a:pPr>
            <a:r>
              <a:rPr lang="en-US" sz="2477" spc="27">
                <a:solidFill>
                  <a:srgbClr val="FFFFFF"/>
                </a:solidFill>
                <a:latin typeface="Hind Jalandhar"/>
                <a:ea typeface="Hind Jalandhar"/>
                <a:cs typeface="Hind Jalandhar"/>
                <a:sym typeface="Hind Jalandhar"/>
              </a:rPr>
              <a:t>Bagaimana implementasi smart contract di testnet Sepolia?</a:t>
            </a:r>
          </a:p>
          <a:p>
            <a:pPr algn="l" marL="534842" indent="-267421" lvl="1">
              <a:lnSpc>
                <a:spcPts val="3468"/>
              </a:lnSpc>
              <a:buAutoNum type="arabicPeriod" startAt="1"/>
            </a:pPr>
            <a:r>
              <a:rPr lang="en-US" sz="2477" spc="27">
                <a:solidFill>
                  <a:srgbClr val="FFFFFF"/>
                </a:solidFill>
                <a:latin typeface="Hind Jalandhar"/>
                <a:ea typeface="Hind Jalandhar"/>
                <a:cs typeface="Hind Jalandhar"/>
                <a:sym typeface="Hind Jalandhar"/>
              </a:rPr>
              <a:t>Mengapa blockchain lebih tepat daripada database biasa?</a:t>
            </a:r>
          </a:p>
          <a:p>
            <a:pPr algn="l" marL="534842" indent="-267421" lvl="1">
              <a:lnSpc>
                <a:spcPts val="3468"/>
              </a:lnSpc>
              <a:buAutoNum type="arabicPeriod" startAt="1"/>
            </a:pPr>
            <a:r>
              <a:rPr lang="en-US" sz="2477" spc="27">
                <a:solidFill>
                  <a:srgbClr val="FFFFFF"/>
                </a:solidFill>
                <a:latin typeface="Hind Jalandhar"/>
                <a:ea typeface="Hind Jalandhar"/>
                <a:cs typeface="Hind Jalandhar"/>
                <a:sym typeface="Hind Jalandhar"/>
              </a:rPr>
              <a:t>Bagaimana membangun front-end yang mudah digunakan?</a:t>
            </a:r>
          </a:p>
        </p:txBody>
      </p:sp>
      <p:sp>
        <p:nvSpPr>
          <p:cNvPr name="Freeform 8" id="8"/>
          <p:cNvSpPr/>
          <p:nvPr/>
        </p:nvSpPr>
        <p:spPr>
          <a:xfrm flipH="false" flipV="false" rot="2594485">
            <a:off x="6507829" y="9271115"/>
            <a:ext cx="3350251" cy="2467003"/>
          </a:xfrm>
          <a:custGeom>
            <a:avLst/>
            <a:gdLst/>
            <a:ahLst/>
            <a:cxnLst/>
            <a:rect r="r" b="b" t="t" l="l"/>
            <a:pathLst>
              <a:path h="2467003" w="3350251">
                <a:moveTo>
                  <a:pt x="0" y="0"/>
                </a:moveTo>
                <a:lnTo>
                  <a:pt x="3350251" y="0"/>
                </a:lnTo>
                <a:lnTo>
                  <a:pt x="3350251"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2594485">
            <a:off x="12394156" y="-887683"/>
            <a:ext cx="3350251" cy="2467003"/>
          </a:xfrm>
          <a:custGeom>
            <a:avLst/>
            <a:gdLst/>
            <a:ahLst/>
            <a:cxnLst/>
            <a:rect r="r" b="b" t="t" l="l"/>
            <a:pathLst>
              <a:path h="2467003" w="3350251">
                <a:moveTo>
                  <a:pt x="0" y="0"/>
                </a:moveTo>
                <a:lnTo>
                  <a:pt x="3350251" y="0"/>
                </a:lnTo>
                <a:lnTo>
                  <a:pt x="3350251"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2868091" y="868807"/>
            <a:ext cx="12551819" cy="1260475"/>
          </a:xfrm>
          <a:prstGeom prst="rect">
            <a:avLst/>
          </a:prstGeom>
        </p:spPr>
        <p:txBody>
          <a:bodyPr anchor="t" rtlCol="false" tIns="0" lIns="0" bIns="0" rIns="0">
            <a:spAutoFit/>
          </a:bodyPr>
          <a:lstStyle/>
          <a:p>
            <a:pPr algn="ctr">
              <a:lnSpc>
                <a:spcPts val="4850"/>
              </a:lnSpc>
            </a:pPr>
            <a:r>
              <a:rPr lang="en-US" sz="5000">
                <a:solidFill>
                  <a:srgbClr val="FFFFFF"/>
                </a:solidFill>
                <a:latin typeface="Alfa Slab One"/>
                <a:ea typeface="Alfa Slab One"/>
                <a:cs typeface="Alfa Slab One"/>
                <a:sym typeface="Alfa Slab One"/>
              </a:rPr>
              <a:t>RUMUSAN MASALAH </a:t>
            </a:r>
          </a:p>
          <a:p>
            <a:pPr algn="ctr">
              <a:lnSpc>
                <a:spcPts val="4850"/>
              </a:lnSpc>
            </a:pPr>
            <a:r>
              <a:rPr lang="en-US" sz="5000">
                <a:solidFill>
                  <a:srgbClr val="FFFFFF"/>
                </a:solidFill>
                <a:latin typeface="Alfa Slab One"/>
                <a:ea typeface="Alfa Slab One"/>
                <a:cs typeface="Alfa Slab One"/>
                <a:sym typeface="Alfa Slab One"/>
              </a:rPr>
              <a:t>&amp; TUJUAN</a:t>
            </a:r>
          </a:p>
        </p:txBody>
      </p:sp>
      <p:sp>
        <p:nvSpPr>
          <p:cNvPr name="TextBox 11" id="11"/>
          <p:cNvSpPr txBox="true"/>
          <p:nvPr/>
        </p:nvSpPr>
        <p:spPr>
          <a:xfrm rot="0">
            <a:off x="8994846" y="3875529"/>
            <a:ext cx="7432559" cy="3051752"/>
          </a:xfrm>
          <a:prstGeom prst="rect">
            <a:avLst/>
          </a:prstGeom>
        </p:spPr>
        <p:txBody>
          <a:bodyPr anchor="t" rtlCol="false" tIns="0" lIns="0" bIns="0" rIns="0">
            <a:spAutoFit/>
          </a:bodyPr>
          <a:lstStyle/>
          <a:p>
            <a:pPr algn="l" marL="534842" indent="-267421" lvl="1">
              <a:lnSpc>
                <a:spcPts val="3468"/>
              </a:lnSpc>
              <a:buAutoNum type="arabicPeriod" startAt="1"/>
            </a:pPr>
            <a:r>
              <a:rPr lang="en-US" sz="2477" spc="27">
                <a:solidFill>
                  <a:srgbClr val="FFFFFF"/>
                </a:solidFill>
                <a:latin typeface="Hind Jalandhar"/>
                <a:ea typeface="Hind Jalandhar"/>
                <a:cs typeface="Hind Jalandhar"/>
                <a:sym typeface="Hind Jalandhar"/>
              </a:rPr>
              <a:t>M</a:t>
            </a:r>
            <a:r>
              <a:rPr lang="en-US" sz="2477" spc="27">
                <a:solidFill>
                  <a:srgbClr val="FFFFFF"/>
                </a:solidFill>
                <a:latin typeface="Hind Jalandhar"/>
                <a:ea typeface="Hind Jalandhar"/>
                <a:cs typeface="Hind Jalandhar"/>
                <a:sym typeface="Hind Jalandhar"/>
              </a:rPr>
              <a:t>erancang sistem dengan arsitektur hybrid (on-chain + off-chain)</a:t>
            </a:r>
          </a:p>
          <a:p>
            <a:pPr algn="l" marL="534842" indent="-267421" lvl="1">
              <a:lnSpc>
                <a:spcPts val="3468"/>
              </a:lnSpc>
              <a:buAutoNum type="arabicPeriod" startAt="1"/>
            </a:pPr>
            <a:r>
              <a:rPr lang="en-US" sz="2477" spc="27">
                <a:solidFill>
                  <a:srgbClr val="FFFFFF"/>
                </a:solidFill>
                <a:latin typeface="Hind Jalandhar"/>
                <a:ea typeface="Hind Jalandhar"/>
                <a:cs typeface="Hind Jalandhar"/>
                <a:sym typeface="Hind Jalandhar"/>
              </a:rPr>
              <a:t>Menulis smart contract Solidity (add, verify, revoke)</a:t>
            </a:r>
          </a:p>
          <a:p>
            <a:pPr algn="l" marL="534842" indent="-267421" lvl="1">
              <a:lnSpc>
                <a:spcPts val="3468"/>
              </a:lnSpc>
              <a:buAutoNum type="arabicPeriod" startAt="1"/>
            </a:pPr>
            <a:r>
              <a:rPr lang="en-US" sz="2477" spc="27">
                <a:solidFill>
                  <a:srgbClr val="FFFFFF"/>
                </a:solidFill>
                <a:latin typeface="Hind Jalandhar"/>
                <a:ea typeface="Hind Jalandhar"/>
                <a:cs typeface="Hind Jalandhar"/>
                <a:sym typeface="Hind Jalandhar"/>
              </a:rPr>
              <a:t>Deploy ke Sepolia &amp; buktikan di Etherscan</a:t>
            </a:r>
          </a:p>
          <a:p>
            <a:pPr algn="l" marL="534842" indent="-267421" lvl="1">
              <a:lnSpc>
                <a:spcPts val="3468"/>
              </a:lnSpc>
              <a:buAutoNum type="arabicPeriod" startAt="1"/>
            </a:pPr>
            <a:r>
              <a:rPr lang="en-US" sz="2477" spc="27">
                <a:solidFill>
                  <a:srgbClr val="FFFFFF"/>
                </a:solidFill>
                <a:latin typeface="Hind Jalandhar"/>
                <a:ea typeface="Hind Jalandhar"/>
                <a:cs typeface="Hind Jalandhar"/>
                <a:sym typeface="Hind Jalandhar"/>
              </a:rPr>
              <a:t>Membangun front-end (HTML/CSS/JS + Ethers.js)</a:t>
            </a:r>
          </a:p>
          <a:p>
            <a:pPr algn="l" marL="534842" indent="-267421" lvl="1">
              <a:lnSpc>
                <a:spcPts val="3468"/>
              </a:lnSpc>
              <a:buAutoNum type="arabicPeriod" startAt="1"/>
            </a:pPr>
            <a:r>
              <a:rPr lang="en-US" sz="2477" spc="27">
                <a:solidFill>
                  <a:srgbClr val="FFFFFF"/>
                </a:solidFill>
                <a:latin typeface="Hind Jalandhar"/>
                <a:ea typeface="Hind Jalandhar"/>
                <a:cs typeface="Hind Jalandhar"/>
                <a:sym typeface="Hind Jalandhar"/>
              </a:rPr>
              <a:t>Menyusun dokumentasi sistematis</a:t>
            </a:r>
          </a:p>
        </p:txBody>
      </p:sp>
      <p:sp>
        <p:nvSpPr>
          <p:cNvPr name="TextBox 12" id="12"/>
          <p:cNvSpPr txBox="true"/>
          <p:nvPr/>
        </p:nvSpPr>
        <p:spPr>
          <a:xfrm rot="0">
            <a:off x="1293678" y="2977944"/>
            <a:ext cx="5511299" cy="442899"/>
          </a:xfrm>
          <a:prstGeom prst="rect">
            <a:avLst/>
          </a:prstGeom>
        </p:spPr>
        <p:txBody>
          <a:bodyPr anchor="t" rtlCol="false" tIns="0" lIns="0" bIns="0" rIns="0">
            <a:spAutoFit/>
          </a:bodyPr>
          <a:lstStyle/>
          <a:p>
            <a:pPr algn="l">
              <a:lnSpc>
                <a:spcPts val="3320"/>
              </a:lnSpc>
            </a:pPr>
            <a:r>
              <a:rPr lang="en-US" sz="3423">
                <a:solidFill>
                  <a:srgbClr val="FFFFFF"/>
                </a:solidFill>
                <a:latin typeface="Alfa Slab One"/>
                <a:ea typeface="Alfa Slab One"/>
                <a:cs typeface="Alfa Slab One"/>
                <a:sym typeface="Alfa Slab One"/>
              </a:rPr>
              <a:t>RUMUSAN MASALAH</a:t>
            </a:r>
          </a:p>
        </p:txBody>
      </p:sp>
      <p:sp>
        <p:nvSpPr>
          <p:cNvPr name="TextBox 13" id="13"/>
          <p:cNvSpPr txBox="true"/>
          <p:nvPr/>
        </p:nvSpPr>
        <p:spPr>
          <a:xfrm rot="0">
            <a:off x="9299198" y="2977944"/>
            <a:ext cx="5038212" cy="442899"/>
          </a:xfrm>
          <a:prstGeom prst="rect">
            <a:avLst/>
          </a:prstGeom>
        </p:spPr>
        <p:txBody>
          <a:bodyPr anchor="t" rtlCol="false" tIns="0" lIns="0" bIns="0" rIns="0">
            <a:spAutoFit/>
          </a:bodyPr>
          <a:lstStyle/>
          <a:p>
            <a:pPr algn="l">
              <a:lnSpc>
                <a:spcPts val="3320"/>
              </a:lnSpc>
            </a:pPr>
            <a:r>
              <a:rPr lang="en-US" sz="3423">
                <a:solidFill>
                  <a:srgbClr val="FFFFFF"/>
                </a:solidFill>
                <a:latin typeface="Alfa Slab One"/>
                <a:ea typeface="Alfa Slab One"/>
                <a:cs typeface="Alfa Slab One"/>
                <a:sym typeface="Alfa Slab One"/>
              </a:rPr>
              <a:t>TUJUAN PROJECT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70129"/>
        </a:solidFill>
      </p:bgPr>
    </p:bg>
    <p:spTree>
      <p:nvGrpSpPr>
        <p:cNvPr id="1" name=""/>
        <p:cNvGrpSpPr/>
        <p:nvPr/>
      </p:nvGrpSpPr>
      <p:grpSpPr>
        <a:xfrm>
          <a:off x="0" y="0"/>
          <a:ext cx="0" cy="0"/>
          <a:chOff x="0" y="0"/>
          <a:chExt cx="0" cy="0"/>
        </a:xfrm>
      </p:grpSpPr>
      <p:sp>
        <p:nvSpPr>
          <p:cNvPr name="TextBox 2" id="2"/>
          <p:cNvSpPr txBox="true"/>
          <p:nvPr/>
        </p:nvSpPr>
        <p:spPr>
          <a:xfrm rot="0">
            <a:off x="3885241" y="862301"/>
            <a:ext cx="10517519" cy="1733524"/>
          </a:xfrm>
          <a:prstGeom prst="rect">
            <a:avLst/>
          </a:prstGeom>
        </p:spPr>
        <p:txBody>
          <a:bodyPr anchor="t" rtlCol="false" tIns="0" lIns="0" bIns="0" rIns="0">
            <a:spAutoFit/>
          </a:bodyPr>
          <a:lstStyle/>
          <a:p>
            <a:pPr algn="ctr">
              <a:lnSpc>
                <a:spcPts val="6641"/>
              </a:lnSpc>
            </a:pPr>
            <a:r>
              <a:rPr lang="en-US" sz="6846">
                <a:solidFill>
                  <a:srgbClr val="FFFFFF"/>
                </a:solidFill>
                <a:latin typeface="Alfa Slab One"/>
                <a:ea typeface="Alfa Slab One"/>
                <a:cs typeface="Alfa Slab One"/>
                <a:sym typeface="Alfa Slab One"/>
              </a:rPr>
              <a:t>M</a:t>
            </a:r>
            <a:r>
              <a:rPr lang="en-US" sz="6846">
                <a:solidFill>
                  <a:srgbClr val="FFFFFF"/>
                </a:solidFill>
                <a:latin typeface="Alfa Slab One"/>
                <a:ea typeface="Alfa Slab One"/>
                <a:cs typeface="Alfa Slab One"/>
                <a:sym typeface="Alfa Slab One"/>
              </a:rPr>
              <a:t>engapa Blockchain? (Justifikasi Utama)</a:t>
            </a:r>
          </a:p>
        </p:txBody>
      </p:sp>
      <p:sp>
        <p:nvSpPr>
          <p:cNvPr name="Freeform 3" id="3"/>
          <p:cNvSpPr/>
          <p:nvPr/>
        </p:nvSpPr>
        <p:spPr>
          <a:xfrm flipH="false" flipV="false" rot="0">
            <a:off x="13315889" y="6265195"/>
            <a:ext cx="4972111" cy="4698645"/>
          </a:xfrm>
          <a:custGeom>
            <a:avLst/>
            <a:gdLst/>
            <a:ahLst/>
            <a:cxnLst/>
            <a:rect r="r" b="b" t="t" l="l"/>
            <a:pathLst>
              <a:path h="4698645" w="4972111">
                <a:moveTo>
                  <a:pt x="0" y="0"/>
                </a:moveTo>
                <a:lnTo>
                  <a:pt x="4972111" y="0"/>
                </a:lnTo>
                <a:lnTo>
                  <a:pt x="4972111" y="4698645"/>
                </a:lnTo>
                <a:lnTo>
                  <a:pt x="0" y="4698645"/>
                </a:lnTo>
                <a:lnTo>
                  <a:pt x="0" y="0"/>
                </a:lnTo>
                <a:close/>
              </a:path>
            </a:pathLst>
          </a:custGeom>
          <a:blipFill>
            <a:blip r:embed="rId2"/>
            <a:stretch>
              <a:fillRect l="0" t="0" r="0" b="0"/>
            </a:stretch>
          </a:blipFill>
        </p:spPr>
      </p:sp>
      <p:sp>
        <p:nvSpPr>
          <p:cNvPr name="Freeform 4" id="4"/>
          <p:cNvSpPr/>
          <p:nvPr/>
        </p:nvSpPr>
        <p:spPr>
          <a:xfrm flipH="false" flipV="false" rot="2594485">
            <a:off x="-1037073" y="3408482"/>
            <a:ext cx="3350251" cy="2467003"/>
          </a:xfrm>
          <a:custGeom>
            <a:avLst/>
            <a:gdLst/>
            <a:ahLst/>
            <a:cxnLst/>
            <a:rect r="r" b="b" t="t" l="l"/>
            <a:pathLst>
              <a:path h="2467003" w="3350251">
                <a:moveTo>
                  <a:pt x="0" y="0"/>
                </a:moveTo>
                <a:lnTo>
                  <a:pt x="3350252" y="0"/>
                </a:lnTo>
                <a:lnTo>
                  <a:pt x="3350252"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801944" y="-383505"/>
            <a:ext cx="4386532" cy="6031481"/>
          </a:xfrm>
          <a:custGeom>
            <a:avLst/>
            <a:gdLst/>
            <a:ahLst/>
            <a:cxnLst/>
            <a:rect r="r" b="b" t="t" l="l"/>
            <a:pathLst>
              <a:path h="6031481" w="4386532">
                <a:moveTo>
                  <a:pt x="0" y="0"/>
                </a:moveTo>
                <a:lnTo>
                  <a:pt x="4386532" y="0"/>
                </a:lnTo>
                <a:lnTo>
                  <a:pt x="4386532" y="6031481"/>
                </a:lnTo>
                <a:lnTo>
                  <a:pt x="0" y="6031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928595" y="-2751419"/>
            <a:ext cx="5317420" cy="5143396"/>
          </a:xfrm>
          <a:custGeom>
            <a:avLst/>
            <a:gdLst/>
            <a:ahLst/>
            <a:cxnLst/>
            <a:rect r="r" b="b" t="t" l="l"/>
            <a:pathLst>
              <a:path h="5143396" w="5317420">
                <a:moveTo>
                  <a:pt x="0" y="0"/>
                </a:moveTo>
                <a:lnTo>
                  <a:pt x="5317420" y="0"/>
                </a:lnTo>
                <a:lnTo>
                  <a:pt x="5317420" y="5143396"/>
                </a:lnTo>
                <a:lnTo>
                  <a:pt x="0" y="514339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721460" y="7019971"/>
            <a:ext cx="4476658" cy="4476658"/>
          </a:xfrm>
          <a:custGeom>
            <a:avLst/>
            <a:gdLst/>
            <a:ahLst/>
            <a:cxnLst/>
            <a:rect r="r" b="b" t="t" l="l"/>
            <a:pathLst>
              <a:path h="4476658" w="4476658">
                <a:moveTo>
                  <a:pt x="0" y="0"/>
                </a:moveTo>
                <a:lnTo>
                  <a:pt x="4476659" y="0"/>
                </a:lnTo>
                <a:lnTo>
                  <a:pt x="4476659" y="4476658"/>
                </a:lnTo>
                <a:lnTo>
                  <a:pt x="0" y="4476658"/>
                </a:lnTo>
                <a:lnTo>
                  <a:pt x="0" y="0"/>
                </a:lnTo>
                <a:close/>
              </a:path>
            </a:pathLst>
          </a:custGeom>
          <a:blipFill>
            <a:blip r:embed="rId9"/>
            <a:stretch>
              <a:fillRect l="0" t="0" r="0" b="0"/>
            </a:stretch>
          </a:blipFill>
        </p:spPr>
      </p:sp>
      <p:sp>
        <p:nvSpPr>
          <p:cNvPr name="Freeform 8" id="8"/>
          <p:cNvSpPr/>
          <p:nvPr/>
        </p:nvSpPr>
        <p:spPr>
          <a:xfrm flipH="false" flipV="false" rot="2594485">
            <a:off x="6507829" y="9271115"/>
            <a:ext cx="3350251" cy="2467003"/>
          </a:xfrm>
          <a:custGeom>
            <a:avLst/>
            <a:gdLst/>
            <a:ahLst/>
            <a:cxnLst/>
            <a:rect r="r" b="b" t="t" l="l"/>
            <a:pathLst>
              <a:path h="2467003" w="3350251">
                <a:moveTo>
                  <a:pt x="0" y="0"/>
                </a:moveTo>
                <a:lnTo>
                  <a:pt x="3350251" y="0"/>
                </a:lnTo>
                <a:lnTo>
                  <a:pt x="3350251"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2594485">
            <a:off x="12394156" y="-887683"/>
            <a:ext cx="3350251" cy="2467003"/>
          </a:xfrm>
          <a:custGeom>
            <a:avLst/>
            <a:gdLst/>
            <a:ahLst/>
            <a:cxnLst/>
            <a:rect r="r" b="b" t="t" l="l"/>
            <a:pathLst>
              <a:path h="2467003" w="3350251">
                <a:moveTo>
                  <a:pt x="0" y="0"/>
                </a:moveTo>
                <a:lnTo>
                  <a:pt x="3350251" y="0"/>
                </a:lnTo>
                <a:lnTo>
                  <a:pt x="3350251"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graphicFrame>
        <p:nvGraphicFramePr>
          <p:cNvPr name="Object 10" id="10"/>
          <p:cNvGraphicFramePr/>
          <p:nvPr/>
        </p:nvGraphicFramePr>
        <p:xfrm>
          <a:off x="5088038" y="3224943"/>
          <a:ext cx="7543800" cy="4400550"/>
        </p:xfrm>
        <a:graphic>
          <a:graphicData uri="http://schemas.openxmlformats.org/presentationml/2006/ole">
            <p:oleObj imgW="9042400" imgH="5905500" r:id="rId11" progId="Excel.Sheet.12" name="Worksheet">
              <p:embed/>
              <p:pic>
                <p:nvPicPr>
                  <p:cNvPr name="" id="0"/>
                  <p:cNvPicPr/>
                  <p:nvPr/>
                </p:nvPicPr>
                <p:blipFill>
                  <a:blip r:embed="rId10"/>
                  <a:stretch>
                    <a:fillRect/>
                  </a:stretch>
                </p:blipFill>
                <p:spPr>
                  <a:xfrm>
                    <a:off x="1270000" y="1270000"/>
                    <a:ext cx="1270000" cy="1270000"/>
                  </a:xfrm>
                  <a:prstGeom prst="rect"/>
                </p:spPr>
              </p:pic>
            </p:oleObj>
          </a:graphicData>
        </a:graphic>
      </p:graphicFrame>
      <p:sp>
        <p:nvSpPr>
          <p:cNvPr name="TextBox 11" id="11"/>
          <p:cNvSpPr txBox="true"/>
          <p:nvPr/>
        </p:nvSpPr>
        <p:spPr>
          <a:xfrm rot="0">
            <a:off x="4388825" y="8160204"/>
            <a:ext cx="10184041" cy="861002"/>
          </a:xfrm>
          <a:prstGeom prst="rect">
            <a:avLst/>
          </a:prstGeom>
        </p:spPr>
        <p:txBody>
          <a:bodyPr anchor="t" rtlCol="false" tIns="0" lIns="0" bIns="0" rIns="0">
            <a:spAutoFit/>
          </a:bodyPr>
          <a:lstStyle/>
          <a:p>
            <a:pPr algn="l">
              <a:lnSpc>
                <a:spcPts val="3468"/>
              </a:lnSpc>
            </a:pPr>
            <a:r>
              <a:rPr lang="en-US" sz="2477" spc="27" b="true">
                <a:solidFill>
                  <a:srgbClr val="FFFFFF"/>
                </a:solidFill>
                <a:latin typeface="Hind Jalandhar Bold"/>
                <a:ea typeface="Hind Jalandhar Bold"/>
                <a:cs typeface="Hind Jalandhar Bold"/>
                <a:sym typeface="Hind Jalandhar Bold"/>
              </a:rPr>
              <a:t>K</a:t>
            </a:r>
            <a:r>
              <a:rPr lang="en-US" b="true" sz="2477" spc="27">
                <a:solidFill>
                  <a:srgbClr val="FFFFFF"/>
                </a:solidFill>
                <a:latin typeface="Hind Jalandhar Bold"/>
                <a:ea typeface="Hind Jalandhar Bold"/>
                <a:cs typeface="Hind Jalandhar Bold"/>
                <a:sym typeface="Hind Jalandhar Bold"/>
              </a:rPr>
              <a:t>esimpulan</a:t>
            </a:r>
            <a:r>
              <a:rPr lang="en-US" sz="2477" spc="27">
                <a:solidFill>
                  <a:srgbClr val="FFFFFF"/>
                </a:solidFill>
                <a:latin typeface="Hind Jalandhar"/>
                <a:ea typeface="Hind Jalandhar"/>
                <a:cs typeface="Hind Jalandhar"/>
                <a:sym typeface="Hind Jalandhar"/>
              </a:rPr>
              <a:t>: Untuk kasus verifikasi ijazah, prioritas utama adalah immutability dan transparansi → Blockchain lebih tepat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70129"/>
        </a:solidFill>
      </p:bgPr>
    </p:bg>
    <p:spTree>
      <p:nvGrpSpPr>
        <p:cNvPr id="1" name=""/>
        <p:cNvGrpSpPr/>
        <p:nvPr/>
      </p:nvGrpSpPr>
      <p:grpSpPr>
        <a:xfrm>
          <a:off x="0" y="0"/>
          <a:ext cx="0" cy="0"/>
          <a:chOff x="0" y="0"/>
          <a:chExt cx="0" cy="0"/>
        </a:xfrm>
      </p:grpSpPr>
      <p:sp>
        <p:nvSpPr>
          <p:cNvPr name="Freeform 2" id="2"/>
          <p:cNvSpPr/>
          <p:nvPr/>
        </p:nvSpPr>
        <p:spPr>
          <a:xfrm flipH="false" flipV="false" rot="0">
            <a:off x="13315889" y="6265195"/>
            <a:ext cx="4972111" cy="4698645"/>
          </a:xfrm>
          <a:custGeom>
            <a:avLst/>
            <a:gdLst/>
            <a:ahLst/>
            <a:cxnLst/>
            <a:rect r="r" b="b" t="t" l="l"/>
            <a:pathLst>
              <a:path h="4698645" w="4972111">
                <a:moveTo>
                  <a:pt x="0" y="0"/>
                </a:moveTo>
                <a:lnTo>
                  <a:pt x="4972111" y="0"/>
                </a:lnTo>
                <a:lnTo>
                  <a:pt x="4972111" y="4698645"/>
                </a:lnTo>
                <a:lnTo>
                  <a:pt x="0" y="4698645"/>
                </a:lnTo>
                <a:lnTo>
                  <a:pt x="0" y="0"/>
                </a:lnTo>
                <a:close/>
              </a:path>
            </a:pathLst>
          </a:custGeom>
          <a:blipFill>
            <a:blip r:embed="rId2"/>
            <a:stretch>
              <a:fillRect l="0" t="0" r="0" b="0"/>
            </a:stretch>
          </a:blipFill>
        </p:spPr>
      </p:sp>
      <p:sp>
        <p:nvSpPr>
          <p:cNvPr name="Freeform 3" id="3"/>
          <p:cNvSpPr/>
          <p:nvPr/>
        </p:nvSpPr>
        <p:spPr>
          <a:xfrm flipH="false" flipV="false" rot="2594485">
            <a:off x="-1037073" y="3408482"/>
            <a:ext cx="3350251" cy="2467003"/>
          </a:xfrm>
          <a:custGeom>
            <a:avLst/>
            <a:gdLst/>
            <a:ahLst/>
            <a:cxnLst/>
            <a:rect r="r" b="b" t="t" l="l"/>
            <a:pathLst>
              <a:path h="2467003" w="3350251">
                <a:moveTo>
                  <a:pt x="0" y="0"/>
                </a:moveTo>
                <a:lnTo>
                  <a:pt x="3350252" y="0"/>
                </a:lnTo>
                <a:lnTo>
                  <a:pt x="3350252"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801944" y="-383505"/>
            <a:ext cx="4386532" cy="6031481"/>
          </a:xfrm>
          <a:custGeom>
            <a:avLst/>
            <a:gdLst/>
            <a:ahLst/>
            <a:cxnLst/>
            <a:rect r="r" b="b" t="t" l="l"/>
            <a:pathLst>
              <a:path h="6031481" w="4386532">
                <a:moveTo>
                  <a:pt x="0" y="0"/>
                </a:moveTo>
                <a:lnTo>
                  <a:pt x="4386532" y="0"/>
                </a:lnTo>
                <a:lnTo>
                  <a:pt x="4386532" y="6031481"/>
                </a:lnTo>
                <a:lnTo>
                  <a:pt x="0" y="6031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928595" y="-2751419"/>
            <a:ext cx="5317420" cy="5143396"/>
          </a:xfrm>
          <a:custGeom>
            <a:avLst/>
            <a:gdLst/>
            <a:ahLst/>
            <a:cxnLst/>
            <a:rect r="r" b="b" t="t" l="l"/>
            <a:pathLst>
              <a:path h="5143396" w="5317420">
                <a:moveTo>
                  <a:pt x="0" y="0"/>
                </a:moveTo>
                <a:lnTo>
                  <a:pt x="5317420" y="0"/>
                </a:lnTo>
                <a:lnTo>
                  <a:pt x="5317420" y="5143396"/>
                </a:lnTo>
                <a:lnTo>
                  <a:pt x="0" y="514339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721460" y="7019971"/>
            <a:ext cx="4476658" cy="4476658"/>
          </a:xfrm>
          <a:custGeom>
            <a:avLst/>
            <a:gdLst/>
            <a:ahLst/>
            <a:cxnLst/>
            <a:rect r="r" b="b" t="t" l="l"/>
            <a:pathLst>
              <a:path h="4476658" w="4476658">
                <a:moveTo>
                  <a:pt x="0" y="0"/>
                </a:moveTo>
                <a:lnTo>
                  <a:pt x="4476659" y="0"/>
                </a:lnTo>
                <a:lnTo>
                  <a:pt x="4476659" y="4476658"/>
                </a:lnTo>
                <a:lnTo>
                  <a:pt x="0" y="4476658"/>
                </a:lnTo>
                <a:lnTo>
                  <a:pt x="0" y="0"/>
                </a:lnTo>
                <a:close/>
              </a:path>
            </a:pathLst>
          </a:custGeom>
          <a:blipFill>
            <a:blip r:embed="rId9"/>
            <a:stretch>
              <a:fillRect l="0" t="0" r="0" b="0"/>
            </a:stretch>
          </a:blipFill>
        </p:spPr>
      </p:sp>
      <p:sp>
        <p:nvSpPr>
          <p:cNvPr name="Freeform 7" id="7"/>
          <p:cNvSpPr/>
          <p:nvPr/>
        </p:nvSpPr>
        <p:spPr>
          <a:xfrm flipH="false" flipV="false" rot="2594485">
            <a:off x="6507829" y="9271115"/>
            <a:ext cx="3350251" cy="2467003"/>
          </a:xfrm>
          <a:custGeom>
            <a:avLst/>
            <a:gdLst/>
            <a:ahLst/>
            <a:cxnLst/>
            <a:rect r="r" b="b" t="t" l="l"/>
            <a:pathLst>
              <a:path h="2467003" w="3350251">
                <a:moveTo>
                  <a:pt x="0" y="0"/>
                </a:moveTo>
                <a:lnTo>
                  <a:pt x="3350251" y="0"/>
                </a:lnTo>
                <a:lnTo>
                  <a:pt x="3350251"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2594485">
            <a:off x="12394156" y="-887683"/>
            <a:ext cx="3350251" cy="2467003"/>
          </a:xfrm>
          <a:custGeom>
            <a:avLst/>
            <a:gdLst/>
            <a:ahLst/>
            <a:cxnLst/>
            <a:rect r="r" b="b" t="t" l="l"/>
            <a:pathLst>
              <a:path h="2467003" w="3350251">
                <a:moveTo>
                  <a:pt x="0" y="0"/>
                </a:moveTo>
                <a:lnTo>
                  <a:pt x="3350251" y="0"/>
                </a:lnTo>
                <a:lnTo>
                  <a:pt x="3350251"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graphicFrame>
        <p:nvGraphicFramePr>
          <p:cNvPr name="Object 9" id="9"/>
          <p:cNvGraphicFramePr/>
          <p:nvPr/>
        </p:nvGraphicFramePr>
        <p:xfrm>
          <a:off x="3870115" y="3531789"/>
          <a:ext cx="5657850" cy="3143250"/>
        </p:xfrm>
        <a:graphic>
          <a:graphicData uri="http://schemas.openxmlformats.org/presentationml/2006/ole">
            <p:oleObj imgW="6781800" imgH="4267200" r:id="rId11" progId="Excel.Sheet.12" name="Worksheet">
              <p:embed/>
              <p:pic>
                <p:nvPicPr>
                  <p:cNvPr name="" id="0"/>
                  <p:cNvPicPr/>
                  <p:nvPr/>
                </p:nvPicPr>
                <p:blipFill>
                  <a:blip r:embed="rId10"/>
                  <a:stretch>
                    <a:fillRect/>
                  </a:stretch>
                </p:blipFill>
                <p:spPr>
                  <a:xfrm>
                    <a:off x="1270000" y="1270000"/>
                    <a:ext cx="1270000" cy="1270000"/>
                  </a:xfrm>
                  <a:prstGeom prst="rect"/>
                </p:spPr>
              </p:pic>
            </p:oleObj>
          </a:graphicData>
        </a:graphic>
      </p:graphicFrame>
      <p:sp>
        <p:nvSpPr>
          <p:cNvPr name="TextBox 10" id="10"/>
          <p:cNvSpPr txBox="true"/>
          <p:nvPr/>
        </p:nvSpPr>
        <p:spPr>
          <a:xfrm rot="0">
            <a:off x="2588571" y="1041382"/>
            <a:ext cx="13546035" cy="1733524"/>
          </a:xfrm>
          <a:prstGeom prst="rect">
            <a:avLst/>
          </a:prstGeom>
        </p:spPr>
        <p:txBody>
          <a:bodyPr anchor="t" rtlCol="false" tIns="0" lIns="0" bIns="0" rIns="0">
            <a:spAutoFit/>
          </a:bodyPr>
          <a:lstStyle/>
          <a:p>
            <a:pPr algn="ctr">
              <a:lnSpc>
                <a:spcPts val="6641"/>
              </a:lnSpc>
            </a:pPr>
            <a:r>
              <a:rPr lang="en-US" sz="6846">
                <a:solidFill>
                  <a:srgbClr val="FFFFFF"/>
                </a:solidFill>
                <a:latin typeface="Alfa Slab One"/>
                <a:ea typeface="Alfa Slab One"/>
                <a:cs typeface="Alfa Slab One"/>
                <a:sym typeface="Alfa Slab One"/>
              </a:rPr>
              <a:t>Studi Banding – MIT Digital Dipl</a:t>
            </a:r>
            <a:r>
              <a:rPr lang="en-US" sz="6846">
                <a:solidFill>
                  <a:srgbClr val="FFFFFF"/>
                </a:solidFill>
                <a:latin typeface="Alfa Slab One"/>
                <a:ea typeface="Alfa Slab One"/>
                <a:cs typeface="Alfa Slab One"/>
                <a:sym typeface="Alfa Slab One"/>
              </a:rPr>
              <a:t>oma (Blockcerts)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70129"/>
        </a:solidFill>
      </p:bgPr>
    </p:bg>
    <p:spTree>
      <p:nvGrpSpPr>
        <p:cNvPr id="1" name=""/>
        <p:cNvGrpSpPr/>
        <p:nvPr/>
      </p:nvGrpSpPr>
      <p:grpSpPr>
        <a:xfrm>
          <a:off x="0" y="0"/>
          <a:ext cx="0" cy="0"/>
          <a:chOff x="0" y="0"/>
          <a:chExt cx="0" cy="0"/>
        </a:xfrm>
      </p:grpSpPr>
      <p:sp>
        <p:nvSpPr>
          <p:cNvPr name="Freeform 2" id="2"/>
          <p:cNvSpPr/>
          <p:nvPr/>
        </p:nvSpPr>
        <p:spPr>
          <a:xfrm flipH="false" flipV="false" rot="0">
            <a:off x="13315889" y="6265195"/>
            <a:ext cx="4972111" cy="4698645"/>
          </a:xfrm>
          <a:custGeom>
            <a:avLst/>
            <a:gdLst/>
            <a:ahLst/>
            <a:cxnLst/>
            <a:rect r="r" b="b" t="t" l="l"/>
            <a:pathLst>
              <a:path h="4698645" w="4972111">
                <a:moveTo>
                  <a:pt x="0" y="0"/>
                </a:moveTo>
                <a:lnTo>
                  <a:pt x="4972111" y="0"/>
                </a:lnTo>
                <a:lnTo>
                  <a:pt x="4972111" y="4698645"/>
                </a:lnTo>
                <a:lnTo>
                  <a:pt x="0" y="4698645"/>
                </a:lnTo>
                <a:lnTo>
                  <a:pt x="0" y="0"/>
                </a:lnTo>
                <a:close/>
              </a:path>
            </a:pathLst>
          </a:custGeom>
          <a:blipFill>
            <a:blip r:embed="rId2"/>
            <a:stretch>
              <a:fillRect l="0" t="0" r="0" b="0"/>
            </a:stretch>
          </a:blipFill>
        </p:spPr>
      </p:sp>
      <p:sp>
        <p:nvSpPr>
          <p:cNvPr name="Freeform 3" id="3"/>
          <p:cNvSpPr/>
          <p:nvPr/>
        </p:nvSpPr>
        <p:spPr>
          <a:xfrm flipH="false" flipV="false" rot="2594485">
            <a:off x="-1037073" y="3408482"/>
            <a:ext cx="3350251" cy="2467003"/>
          </a:xfrm>
          <a:custGeom>
            <a:avLst/>
            <a:gdLst/>
            <a:ahLst/>
            <a:cxnLst/>
            <a:rect r="r" b="b" t="t" l="l"/>
            <a:pathLst>
              <a:path h="2467003" w="3350251">
                <a:moveTo>
                  <a:pt x="0" y="0"/>
                </a:moveTo>
                <a:lnTo>
                  <a:pt x="3350252" y="0"/>
                </a:lnTo>
                <a:lnTo>
                  <a:pt x="3350252"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801944" y="-383505"/>
            <a:ext cx="4386532" cy="6031481"/>
          </a:xfrm>
          <a:custGeom>
            <a:avLst/>
            <a:gdLst/>
            <a:ahLst/>
            <a:cxnLst/>
            <a:rect r="r" b="b" t="t" l="l"/>
            <a:pathLst>
              <a:path h="6031481" w="4386532">
                <a:moveTo>
                  <a:pt x="0" y="0"/>
                </a:moveTo>
                <a:lnTo>
                  <a:pt x="4386532" y="0"/>
                </a:lnTo>
                <a:lnTo>
                  <a:pt x="4386532" y="6031481"/>
                </a:lnTo>
                <a:lnTo>
                  <a:pt x="0" y="6031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928595" y="-2751419"/>
            <a:ext cx="5317420" cy="5143396"/>
          </a:xfrm>
          <a:custGeom>
            <a:avLst/>
            <a:gdLst/>
            <a:ahLst/>
            <a:cxnLst/>
            <a:rect r="r" b="b" t="t" l="l"/>
            <a:pathLst>
              <a:path h="5143396" w="5317420">
                <a:moveTo>
                  <a:pt x="0" y="0"/>
                </a:moveTo>
                <a:lnTo>
                  <a:pt x="5317420" y="0"/>
                </a:lnTo>
                <a:lnTo>
                  <a:pt x="5317420" y="5143396"/>
                </a:lnTo>
                <a:lnTo>
                  <a:pt x="0" y="514339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721460" y="7019971"/>
            <a:ext cx="4476658" cy="4476658"/>
          </a:xfrm>
          <a:custGeom>
            <a:avLst/>
            <a:gdLst/>
            <a:ahLst/>
            <a:cxnLst/>
            <a:rect r="r" b="b" t="t" l="l"/>
            <a:pathLst>
              <a:path h="4476658" w="4476658">
                <a:moveTo>
                  <a:pt x="0" y="0"/>
                </a:moveTo>
                <a:lnTo>
                  <a:pt x="4476659" y="0"/>
                </a:lnTo>
                <a:lnTo>
                  <a:pt x="4476659" y="4476658"/>
                </a:lnTo>
                <a:lnTo>
                  <a:pt x="0" y="4476658"/>
                </a:lnTo>
                <a:lnTo>
                  <a:pt x="0" y="0"/>
                </a:lnTo>
                <a:close/>
              </a:path>
            </a:pathLst>
          </a:custGeom>
          <a:blipFill>
            <a:blip r:embed="rId9"/>
            <a:stretch>
              <a:fillRect l="0" t="0" r="0" b="0"/>
            </a:stretch>
          </a:blipFill>
        </p:spPr>
      </p:sp>
      <p:sp>
        <p:nvSpPr>
          <p:cNvPr name="Freeform 7" id="7"/>
          <p:cNvSpPr/>
          <p:nvPr/>
        </p:nvSpPr>
        <p:spPr>
          <a:xfrm flipH="false" flipV="false" rot="2594485">
            <a:off x="6507829" y="9271115"/>
            <a:ext cx="3350251" cy="2467003"/>
          </a:xfrm>
          <a:custGeom>
            <a:avLst/>
            <a:gdLst/>
            <a:ahLst/>
            <a:cxnLst/>
            <a:rect r="r" b="b" t="t" l="l"/>
            <a:pathLst>
              <a:path h="2467003" w="3350251">
                <a:moveTo>
                  <a:pt x="0" y="0"/>
                </a:moveTo>
                <a:lnTo>
                  <a:pt x="3350251" y="0"/>
                </a:lnTo>
                <a:lnTo>
                  <a:pt x="3350251"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2594485">
            <a:off x="12394156" y="-887683"/>
            <a:ext cx="3350251" cy="2467003"/>
          </a:xfrm>
          <a:custGeom>
            <a:avLst/>
            <a:gdLst/>
            <a:ahLst/>
            <a:cxnLst/>
            <a:rect r="r" b="b" t="t" l="l"/>
            <a:pathLst>
              <a:path h="2467003" w="3350251">
                <a:moveTo>
                  <a:pt x="0" y="0"/>
                </a:moveTo>
                <a:lnTo>
                  <a:pt x="3350251" y="0"/>
                </a:lnTo>
                <a:lnTo>
                  <a:pt x="3350251"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6494639" y="2189075"/>
            <a:ext cx="5298722" cy="7604742"/>
          </a:xfrm>
          <a:custGeom>
            <a:avLst/>
            <a:gdLst/>
            <a:ahLst/>
            <a:cxnLst/>
            <a:rect r="r" b="b" t="t" l="l"/>
            <a:pathLst>
              <a:path h="7604742" w="5298722">
                <a:moveTo>
                  <a:pt x="0" y="0"/>
                </a:moveTo>
                <a:lnTo>
                  <a:pt x="5298722" y="0"/>
                </a:lnTo>
                <a:lnTo>
                  <a:pt x="5298722" y="7604742"/>
                </a:lnTo>
                <a:lnTo>
                  <a:pt x="0" y="7604742"/>
                </a:lnTo>
                <a:lnTo>
                  <a:pt x="0" y="0"/>
                </a:lnTo>
                <a:close/>
              </a:path>
            </a:pathLst>
          </a:custGeom>
          <a:blipFill>
            <a:blip r:embed="rId10"/>
            <a:stretch>
              <a:fillRect l="0" t="0" r="0" b="0"/>
            </a:stretch>
          </a:blipFill>
        </p:spPr>
      </p:sp>
      <p:sp>
        <p:nvSpPr>
          <p:cNvPr name="TextBox 10" id="10"/>
          <p:cNvSpPr txBox="true"/>
          <p:nvPr/>
        </p:nvSpPr>
        <p:spPr>
          <a:xfrm rot="0">
            <a:off x="3304328" y="986176"/>
            <a:ext cx="11679343" cy="895324"/>
          </a:xfrm>
          <a:prstGeom prst="rect">
            <a:avLst/>
          </a:prstGeom>
        </p:spPr>
        <p:txBody>
          <a:bodyPr anchor="t" rtlCol="false" tIns="0" lIns="0" bIns="0" rIns="0">
            <a:spAutoFit/>
          </a:bodyPr>
          <a:lstStyle/>
          <a:p>
            <a:pPr algn="ctr">
              <a:lnSpc>
                <a:spcPts val="6641"/>
              </a:lnSpc>
            </a:pPr>
            <a:r>
              <a:rPr lang="en-US" sz="6846">
                <a:solidFill>
                  <a:srgbClr val="FFFFFF"/>
                </a:solidFill>
                <a:latin typeface="Alfa Slab One"/>
                <a:ea typeface="Alfa Slab One"/>
                <a:cs typeface="Alfa Slab One"/>
                <a:sym typeface="Alfa Slab One"/>
              </a:rPr>
              <a:t>ARSITEKTUR DIAGRAM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70129"/>
        </a:solidFill>
      </p:bgPr>
    </p:bg>
    <p:spTree>
      <p:nvGrpSpPr>
        <p:cNvPr id="1" name=""/>
        <p:cNvGrpSpPr/>
        <p:nvPr/>
      </p:nvGrpSpPr>
      <p:grpSpPr>
        <a:xfrm>
          <a:off x="0" y="0"/>
          <a:ext cx="0" cy="0"/>
          <a:chOff x="0" y="0"/>
          <a:chExt cx="0" cy="0"/>
        </a:xfrm>
      </p:grpSpPr>
      <p:sp>
        <p:nvSpPr>
          <p:cNvPr name="TextBox 2" id="2"/>
          <p:cNvSpPr txBox="true"/>
          <p:nvPr/>
        </p:nvSpPr>
        <p:spPr>
          <a:xfrm rot="0">
            <a:off x="4643991" y="1059367"/>
            <a:ext cx="8671898" cy="1332610"/>
          </a:xfrm>
          <a:prstGeom prst="rect">
            <a:avLst/>
          </a:prstGeom>
        </p:spPr>
        <p:txBody>
          <a:bodyPr anchor="t" rtlCol="false" tIns="0" lIns="0" bIns="0" rIns="0">
            <a:spAutoFit/>
          </a:bodyPr>
          <a:lstStyle/>
          <a:p>
            <a:pPr algn="ctr">
              <a:lnSpc>
                <a:spcPts val="9951"/>
              </a:lnSpc>
            </a:pPr>
            <a:r>
              <a:rPr lang="en-US" sz="10259">
                <a:solidFill>
                  <a:srgbClr val="FFFFFF"/>
                </a:solidFill>
                <a:latin typeface="Alfa Slab One"/>
                <a:ea typeface="Alfa Slab One"/>
                <a:cs typeface="Alfa Slab One"/>
                <a:sym typeface="Alfa Slab One"/>
              </a:rPr>
              <a:t>FlowChart’s</a:t>
            </a:r>
          </a:p>
        </p:txBody>
      </p:sp>
      <p:sp>
        <p:nvSpPr>
          <p:cNvPr name="Freeform 3" id="3"/>
          <p:cNvSpPr/>
          <p:nvPr/>
        </p:nvSpPr>
        <p:spPr>
          <a:xfrm flipH="false" flipV="false" rot="0">
            <a:off x="13315889" y="6265195"/>
            <a:ext cx="4972111" cy="4698645"/>
          </a:xfrm>
          <a:custGeom>
            <a:avLst/>
            <a:gdLst/>
            <a:ahLst/>
            <a:cxnLst/>
            <a:rect r="r" b="b" t="t" l="l"/>
            <a:pathLst>
              <a:path h="4698645" w="4972111">
                <a:moveTo>
                  <a:pt x="0" y="0"/>
                </a:moveTo>
                <a:lnTo>
                  <a:pt x="4972111" y="0"/>
                </a:lnTo>
                <a:lnTo>
                  <a:pt x="4972111" y="4698645"/>
                </a:lnTo>
                <a:lnTo>
                  <a:pt x="0" y="4698645"/>
                </a:lnTo>
                <a:lnTo>
                  <a:pt x="0" y="0"/>
                </a:lnTo>
                <a:close/>
              </a:path>
            </a:pathLst>
          </a:custGeom>
          <a:blipFill>
            <a:blip r:embed="rId2"/>
            <a:stretch>
              <a:fillRect l="0" t="0" r="0" b="0"/>
            </a:stretch>
          </a:blipFill>
        </p:spPr>
      </p:sp>
      <p:sp>
        <p:nvSpPr>
          <p:cNvPr name="Freeform 4" id="4"/>
          <p:cNvSpPr/>
          <p:nvPr/>
        </p:nvSpPr>
        <p:spPr>
          <a:xfrm flipH="false" flipV="false" rot="2594485">
            <a:off x="-1037073" y="3408482"/>
            <a:ext cx="3350251" cy="2467003"/>
          </a:xfrm>
          <a:custGeom>
            <a:avLst/>
            <a:gdLst/>
            <a:ahLst/>
            <a:cxnLst/>
            <a:rect r="r" b="b" t="t" l="l"/>
            <a:pathLst>
              <a:path h="2467003" w="3350251">
                <a:moveTo>
                  <a:pt x="0" y="0"/>
                </a:moveTo>
                <a:lnTo>
                  <a:pt x="3350252" y="0"/>
                </a:lnTo>
                <a:lnTo>
                  <a:pt x="3350252"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801944" y="-383505"/>
            <a:ext cx="4386532" cy="6031481"/>
          </a:xfrm>
          <a:custGeom>
            <a:avLst/>
            <a:gdLst/>
            <a:ahLst/>
            <a:cxnLst/>
            <a:rect r="r" b="b" t="t" l="l"/>
            <a:pathLst>
              <a:path h="6031481" w="4386532">
                <a:moveTo>
                  <a:pt x="0" y="0"/>
                </a:moveTo>
                <a:lnTo>
                  <a:pt x="4386532" y="0"/>
                </a:lnTo>
                <a:lnTo>
                  <a:pt x="4386532" y="6031481"/>
                </a:lnTo>
                <a:lnTo>
                  <a:pt x="0" y="6031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928595" y="-2751419"/>
            <a:ext cx="5317420" cy="5143396"/>
          </a:xfrm>
          <a:custGeom>
            <a:avLst/>
            <a:gdLst/>
            <a:ahLst/>
            <a:cxnLst/>
            <a:rect r="r" b="b" t="t" l="l"/>
            <a:pathLst>
              <a:path h="5143396" w="5317420">
                <a:moveTo>
                  <a:pt x="0" y="0"/>
                </a:moveTo>
                <a:lnTo>
                  <a:pt x="5317420" y="0"/>
                </a:lnTo>
                <a:lnTo>
                  <a:pt x="5317420" y="5143396"/>
                </a:lnTo>
                <a:lnTo>
                  <a:pt x="0" y="514339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721460" y="7019971"/>
            <a:ext cx="4476658" cy="4476658"/>
          </a:xfrm>
          <a:custGeom>
            <a:avLst/>
            <a:gdLst/>
            <a:ahLst/>
            <a:cxnLst/>
            <a:rect r="r" b="b" t="t" l="l"/>
            <a:pathLst>
              <a:path h="4476658" w="4476658">
                <a:moveTo>
                  <a:pt x="0" y="0"/>
                </a:moveTo>
                <a:lnTo>
                  <a:pt x="4476659" y="0"/>
                </a:lnTo>
                <a:lnTo>
                  <a:pt x="4476659" y="4476658"/>
                </a:lnTo>
                <a:lnTo>
                  <a:pt x="0" y="4476658"/>
                </a:lnTo>
                <a:lnTo>
                  <a:pt x="0" y="0"/>
                </a:lnTo>
                <a:close/>
              </a:path>
            </a:pathLst>
          </a:custGeom>
          <a:blipFill>
            <a:blip r:embed="rId9"/>
            <a:stretch>
              <a:fillRect l="0" t="0" r="0" b="0"/>
            </a:stretch>
          </a:blipFill>
        </p:spPr>
      </p:sp>
      <p:sp>
        <p:nvSpPr>
          <p:cNvPr name="Freeform 8" id="8"/>
          <p:cNvSpPr/>
          <p:nvPr/>
        </p:nvSpPr>
        <p:spPr>
          <a:xfrm flipH="false" flipV="false" rot="2594485">
            <a:off x="6507829" y="9271115"/>
            <a:ext cx="3350251" cy="2467003"/>
          </a:xfrm>
          <a:custGeom>
            <a:avLst/>
            <a:gdLst/>
            <a:ahLst/>
            <a:cxnLst/>
            <a:rect r="r" b="b" t="t" l="l"/>
            <a:pathLst>
              <a:path h="2467003" w="3350251">
                <a:moveTo>
                  <a:pt x="0" y="0"/>
                </a:moveTo>
                <a:lnTo>
                  <a:pt x="3350251" y="0"/>
                </a:lnTo>
                <a:lnTo>
                  <a:pt x="3350251"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2594485">
            <a:off x="12394156" y="-887683"/>
            <a:ext cx="3350251" cy="2467003"/>
          </a:xfrm>
          <a:custGeom>
            <a:avLst/>
            <a:gdLst/>
            <a:ahLst/>
            <a:cxnLst/>
            <a:rect r="r" b="b" t="t" l="l"/>
            <a:pathLst>
              <a:path h="2467003" w="3350251">
                <a:moveTo>
                  <a:pt x="0" y="0"/>
                </a:moveTo>
                <a:lnTo>
                  <a:pt x="3350251" y="0"/>
                </a:lnTo>
                <a:lnTo>
                  <a:pt x="3350251"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8825201" y="2542187"/>
            <a:ext cx="2615021" cy="6662475"/>
          </a:xfrm>
          <a:custGeom>
            <a:avLst/>
            <a:gdLst/>
            <a:ahLst/>
            <a:cxnLst/>
            <a:rect r="r" b="b" t="t" l="l"/>
            <a:pathLst>
              <a:path h="6662475" w="2615021">
                <a:moveTo>
                  <a:pt x="0" y="0"/>
                </a:moveTo>
                <a:lnTo>
                  <a:pt x="2615021" y="0"/>
                </a:lnTo>
                <a:lnTo>
                  <a:pt x="2615021" y="6662474"/>
                </a:lnTo>
                <a:lnTo>
                  <a:pt x="0" y="6662474"/>
                </a:lnTo>
                <a:lnTo>
                  <a:pt x="0" y="0"/>
                </a:lnTo>
                <a:close/>
              </a:path>
            </a:pathLst>
          </a:custGeom>
          <a:blipFill>
            <a:blip r:embed="rId10"/>
            <a:stretch>
              <a:fillRect l="0" t="0" r="0" b="0"/>
            </a:stretch>
          </a:blipFill>
        </p:spPr>
      </p:sp>
      <p:sp>
        <p:nvSpPr>
          <p:cNvPr name="Freeform 11" id="11"/>
          <p:cNvSpPr/>
          <p:nvPr/>
        </p:nvSpPr>
        <p:spPr>
          <a:xfrm flipH="false" flipV="false" rot="0">
            <a:off x="14203626" y="2488548"/>
            <a:ext cx="3055674" cy="6769752"/>
          </a:xfrm>
          <a:custGeom>
            <a:avLst/>
            <a:gdLst/>
            <a:ahLst/>
            <a:cxnLst/>
            <a:rect r="r" b="b" t="t" l="l"/>
            <a:pathLst>
              <a:path h="6769752" w="3055674">
                <a:moveTo>
                  <a:pt x="0" y="0"/>
                </a:moveTo>
                <a:lnTo>
                  <a:pt x="3055674" y="0"/>
                </a:lnTo>
                <a:lnTo>
                  <a:pt x="3055674" y="6769752"/>
                </a:lnTo>
                <a:lnTo>
                  <a:pt x="0" y="6769752"/>
                </a:lnTo>
                <a:lnTo>
                  <a:pt x="0" y="0"/>
                </a:lnTo>
                <a:close/>
              </a:path>
            </a:pathLst>
          </a:custGeom>
          <a:blipFill>
            <a:blip r:embed="rId11"/>
            <a:stretch>
              <a:fillRect l="0" t="0" r="0" b="0"/>
            </a:stretch>
          </a:blipFill>
        </p:spPr>
      </p:sp>
      <p:sp>
        <p:nvSpPr>
          <p:cNvPr name="Freeform 12" id="12"/>
          <p:cNvSpPr/>
          <p:nvPr/>
        </p:nvSpPr>
        <p:spPr>
          <a:xfrm flipH="false" flipV="false" rot="0">
            <a:off x="1028700" y="2488548"/>
            <a:ext cx="4345147" cy="6769752"/>
          </a:xfrm>
          <a:custGeom>
            <a:avLst/>
            <a:gdLst/>
            <a:ahLst/>
            <a:cxnLst/>
            <a:rect r="r" b="b" t="t" l="l"/>
            <a:pathLst>
              <a:path h="6769752" w="4345147">
                <a:moveTo>
                  <a:pt x="0" y="0"/>
                </a:moveTo>
                <a:lnTo>
                  <a:pt x="4345147" y="0"/>
                </a:lnTo>
                <a:lnTo>
                  <a:pt x="4345147" y="6769752"/>
                </a:lnTo>
                <a:lnTo>
                  <a:pt x="0" y="6769752"/>
                </a:lnTo>
                <a:lnTo>
                  <a:pt x="0" y="0"/>
                </a:lnTo>
                <a:close/>
              </a:path>
            </a:pathLst>
          </a:custGeom>
          <a:blipFill>
            <a:blip r:embed="rId12"/>
            <a:stretch>
              <a:fillRect l="0" t="0" r="0" b="0"/>
            </a:stretch>
          </a:blipFill>
        </p:spPr>
      </p:sp>
      <p:sp>
        <p:nvSpPr>
          <p:cNvPr name="TextBox 13" id="13"/>
          <p:cNvSpPr txBox="true"/>
          <p:nvPr/>
        </p:nvSpPr>
        <p:spPr>
          <a:xfrm rot="0">
            <a:off x="5093425" y="3346725"/>
            <a:ext cx="2811544" cy="555158"/>
          </a:xfrm>
          <a:prstGeom prst="rect">
            <a:avLst/>
          </a:prstGeom>
        </p:spPr>
        <p:txBody>
          <a:bodyPr anchor="t" rtlCol="false" tIns="0" lIns="0" bIns="0" rIns="0">
            <a:spAutoFit/>
          </a:bodyPr>
          <a:lstStyle/>
          <a:p>
            <a:pPr algn="ctr">
              <a:lnSpc>
                <a:spcPts val="2158"/>
              </a:lnSpc>
            </a:pPr>
            <a:r>
              <a:rPr lang="en-US" sz="2225">
                <a:solidFill>
                  <a:srgbClr val="FFFFFF"/>
                </a:solidFill>
                <a:latin typeface="Alfa Slab One"/>
                <a:ea typeface="Alfa Slab One"/>
                <a:cs typeface="Alfa Slab One"/>
                <a:sym typeface="Alfa Slab One"/>
              </a:rPr>
              <a:t>Penerbitan</a:t>
            </a:r>
          </a:p>
          <a:p>
            <a:pPr algn="ctr">
              <a:lnSpc>
                <a:spcPts val="2158"/>
              </a:lnSpc>
            </a:pPr>
            <a:r>
              <a:rPr lang="en-US" sz="2225">
                <a:solidFill>
                  <a:srgbClr val="FFFFFF"/>
                </a:solidFill>
                <a:latin typeface="Alfa Slab One"/>
                <a:ea typeface="Alfa Slab One"/>
                <a:cs typeface="Alfa Slab One"/>
                <a:sym typeface="Alfa Slab One"/>
              </a:rPr>
              <a:t>                     Ijazah</a:t>
            </a:r>
          </a:p>
        </p:txBody>
      </p:sp>
      <p:sp>
        <p:nvSpPr>
          <p:cNvPr name="TextBox 14" id="14"/>
          <p:cNvSpPr txBox="true"/>
          <p:nvPr/>
        </p:nvSpPr>
        <p:spPr>
          <a:xfrm rot="0">
            <a:off x="5538810" y="3939982"/>
            <a:ext cx="1920774" cy="193262"/>
          </a:xfrm>
          <a:prstGeom prst="rect">
            <a:avLst/>
          </a:prstGeom>
        </p:spPr>
        <p:txBody>
          <a:bodyPr anchor="t" rtlCol="false" tIns="0" lIns="0" bIns="0" rIns="0">
            <a:spAutoFit/>
          </a:bodyPr>
          <a:lstStyle/>
          <a:p>
            <a:pPr algn="ctr">
              <a:lnSpc>
                <a:spcPts val="1474"/>
              </a:lnSpc>
            </a:pPr>
            <a:r>
              <a:rPr lang="en-US" sz="1520">
                <a:solidFill>
                  <a:srgbClr val="FFFFFF"/>
                </a:solidFill>
                <a:latin typeface="Alfa Slab One"/>
                <a:ea typeface="Alfa Slab One"/>
                <a:cs typeface="Alfa Slab One"/>
                <a:sym typeface="Alfa Slab One"/>
              </a:rPr>
              <a:t>&lt;--------------------</a:t>
            </a:r>
          </a:p>
        </p:txBody>
      </p:sp>
      <p:sp>
        <p:nvSpPr>
          <p:cNvPr name="TextBox 15" id="15"/>
          <p:cNvSpPr txBox="true"/>
          <p:nvPr/>
        </p:nvSpPr>
        <p:spPr>
          <a:xfrm rot="-10800000">
            <a:off x="7033196" y="6809956"/>
            <a:ext cx="1743546" cy="181440"/>
          </a:xfrm>
          <a:prstGeom prst="rect">
            <a:avLst/>
          </a:prstGeom>
        </p:spPr>
        <p:txBody>
          <a:bodyPr anchor="t" rtlCol="false" tIns="0" lIns="0" bIns="0" rIns="0">
            <a:spAutoFit/>
          </a:bodyPr>
          <a:lstStyle/>
          <a:p>
            <a:pPr algn="ctr">
              <a:lnSpc>
                <a:spcPts val="1338"/>
              </a:lnSpc>
            </a:pPr>
            <a:r>
              <a:rPr lang="en-US" sz="1380">
                <a:solidFill>
                  <a:srgbClr val="FFFFFF"/>
                </a:solidFill>
                <a:latin typeface="Alfa Slab One"/>
                <a:ea typeface="Alfa Slab One"/>
                <a:cs typeface="Alfa Slab One"/>
                <a:sym typeface="Alfa Slab One"/>
              </a:rPr>
              <a:t>&lt;--------------------</a:t>
            </a:r>
          </a:p>
        </p:txBody>
      </p:sp>
      <p:sp>
        <p:nvSpPr>
          <p:cNvPr name="TextBox 16" id="16"/>
          <p:cNvSpPr txBox="true"/>
          <p:nvPr/>
        </p:nvSpPr>
        <p:spPr>
          <a:xfrm rot="-10800000">
            <a:off x="12414640" y="4424868"/>
            <a:ext cx="1802497" cy="188541"/>
          </a:xfrm>
          <a:prstGeom prst="rect">
            <a:avLst/>
          </a:prstGeom>
        </p:spPr>
        <p:txBody>
          <a:bodyPr anchor="t" rtlCol="false" tIns="0" lIns="0" bIns="0" rIns="0">
            <a:spAutoFit/>
          </a:bodyPr>
          <a:lstStyle/>
          <a:p>
            <a:pPr algn="ctr">
              <a:lnSpc>
                <a:spcPts val="1383"/>
              </a:lnSpc>
            </a:pPr>
            <a:r>
              <a:rPr lang="en-US" sz="1426">
                <a:solidFill>
                  <a:srgbClr val="FFFFFF"/>
                </a:solidFill>
                <a:latin typeface="Alfa Slab One"/>
                <a:ea typeface="Alfa Slab One"/>
                <a:cs typeface="Alfa Slab One"/>
                <a:sym typeface="Alfa Slab One"/>
              </a:rPr>
              <a:t>&lt;--------------------</a:t>
            </a:r>
          </a:p>
        </p:txBody>
      </p:sp>
      <p:sp>
        <p:nvSpPr>
          <p:cNvPr name="TextBox 17" id="17"/>
          <p:cNvSpPr txBox="true"/>
          <p:nvPr/>
        </p:nvSpPr>
        <p:spPr>
          <a:xfrm rot="0">
            <a:off x="5538810" y="6132984"/>
            <a:ext cx="2811544" cy="555158"/>
          </a:xfrm>
          <a:prstGeom prst="rect">
            <a:avLst/>
          </a:prstGeom>
        </p:spPr>
        <p:txBody>
          <a:bodyPr anchor="t" rtlCol="false" tIns="0" lIns="0" bIns="0" rIns="0">
            <a:spAutoFit/>
          </a:bodyPr>
          <a:lstStyle/>
          <a:p>
            <a:pPr algn="ctr">
              <a:lnSpc>
                <a:spcPts val="2158"/>
              </a:lnSpc>
            </a:pPr>
            <a:r>
              <a:rPr lang="en-US" sz="2225">
                <a:solidFill>
                  <a:srgbClr val="FFFFFF"/>
                </a:solidFill>
                <a:latin typeface="Alfa Slab One"/>
                <a:ea typeface="Alfa Slab One"/>
                <a:cs typeface="Alfa Slab One"/>
                <a:sym typeface="Alfa Slab One"/>
              </a:rPr>
              <a:t>Pencabutan</a:t>
            </a:r>
          </a:p>
          <a:p>
            <a:pPr algn="ctr">
              <a:lnSpc>
                <a:spcPts val="2158"/>
              </a:lnSpc>
            </a:pPr>
            <a:r>
              <a:rPr lang="en-US" sz="2225">
                <a:solidFill>
                  <a:srgbClr val="FFFFFF"/>
                </a:solidFill>
                <a:latin typeface="Alfa Slab One"/>
                <a:ea typeface="Alfa Slab One"/>
                <a:cs typeface="Alfa Slab One"/>
                <a:sym typeface="Alfa Slab One"/>
              </a:rPr>
              <a:t>                     Ijazah</a:t>
            </a:r>
          </a:p>
        </p:txBody>
      </p:sp>
      <p:sp>
        <p:nvSpPr>
          <p:cNvPr name="TextBox 18" id="18"/>
          <p:cNvSpPr txBox="true"/>
          <p:nvPr/>
        </p:nvSpPr>
        <p:spPr>
          <a:xfrm rot="0">
            <a:off x="11257738" y="3884241"/>
            <a:ext cx="2811544" cy="555158"/>
          </a:xfrm>
          <a:prstGeom prst="rect">
            <a:avLst/>
          </a:prstGeom>
        </p:spPr>
        <p:txBody>
          <a:bodyPr anchor="t" rtlCol="false" tIns="0" lIns="0" bIns="0" rIns="0">
            <a:spAutoFit/>
          </a:bodyPr>
          <a:lstStyle/>
          <a:p>
            <a:pPr algn="ctr">
              <a:lnSpc>
                <a:spcPts val="2158"/>
              </a:lnSpc>
            </a:pPr>
            <a:r>
              <a:rPr lang="en-US" sz="2225">
                <a:solidFill>
                  <a:srgbClr val="FFFFFF"/>
                </a:solidFill>
                <a:latin typeface="Alfa Slab One"/>
                <a:ea typeface="Alfa Slab One"/>
                <a:cs typeface="Alfa Slab One"/>
                <a:sym typeface="Alfa Slab One"/>
              </a:rPr>
              <a:t>Verifikasi</a:t>
            </a:r>
          </a:p>
          <a:p>
            <a:pPr algn="ctr">
              <a:lnSpc>
                <a:spcPts val="2158"/>
              </a:lnSpc>
            </a:pPr>
            <a:r>
              <a:rPr lang="en-US" sz="2225">
                <a:solidFill>
                  <a:srgbClr val="FFFFFF"/>
                </a:solidFill>
                <a:latin typeface="Alfa Slab One"/>
                <a:ea typeface="Alfa Slab One"/>
                <a:cs typeface="Alfa Slab One"/>
                <a:sym typeface="Alfa Slab One"/>
              </a:rPr>
              <a:t>                     Ijazah</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70129"/>
        </a:solidFill>
      </p:bgPr>
    </p:bg>
    <p:spTree>
      <p:nvGrpSpPr>
        <p:cNvPr id="1" name=""/>
        <p:cNvGrpSpPr/>
        <p:nvPr/>
      </p:nvGrpSpPr>
      <p:grpSpPr>
        <a:xfrm>
          <a:off x="0" y="0"/>
          <a:ext cx="0" cy="0"/>
          <a:chOff x="0" y="0"/>
          <a:chExt cx="0" cy="0"/>
        </a:xfrm>
      </p:grpSpPr>
      <p:sp>
        <p:nvSpPr>
          <p:cNvPr name="TextBox 2" id="2"/>
          <p:cNvSpPr txBox="true"/>
          <p:nvPr/>
        </p:nvSpPr>
        <p:spPr>
          <a:xfrm rot="0">
            <a:off x="4178543" y="1171575"/>
            <a:ext cx="9930915" cy="895324"/>
          </a:xfrm>
          <a:prstGeom prst="rect">
            <a:avLst/>
          </a:prstGeom>
        </p:spPr>
        <p:txBody>
          <a:bodyPr anchor="t" rtlCol="false" tIns="0" lIns="0" bIns="0" rIns="0">
            <a:spAutoFit/>
          </a:bodyPr>
          <a:lstStyle/>
          <a:p>
            <a:pPr algn="ctr">
              <a:lnSpc>
                <a:spcPts val="6641"/>
              </a:lnSpc>
            </a:pPr>
            <a:r>
              <a:rPr lang="en-US" sz="6846">
                <a:solidFill>
                  <a:srgbClr val="FFFFFF"/>
                </a:solidFill>
                <a:latin typeface="Alfa Slab One"/>
                <a:ea typeface="Alfa Slab One"/>
                <a:cs typeface="Alfa Slab One"/>
                <a:sym typeface="Alfa Slab One"/>
              </a:rPr>
              <a:t>DESAIN UI</a:t>
            </a:r>
          </a:p>
        </p:txBody>
      </p:sp>
      <p:sp>
        <p:nvSpPr>
          <p:cNvPr name="Freeform 3" id="3"/>
          <p:cNvSpPr/>
          <p:nvPr/>
        </p:nvSpPr>
        <p:spPr>
          <a:xfrm flipH="false" flipV="false" rot="0">
            <a:off x="13315889" y="6265195"/>
            <a:ext cx="4972111" cy="4698645"/>
          </a:xfrm>
          <a:custGeom>
            <a:avLst/>
            <a:gdLst/>
            <a:ahLst/>
            <a:cxnLst/>
            <a:rect r="r" b="b" t="t" l="l"/>
            <a:pathLst>
              <a:path h="4698645" w="4972111">
                <a:moveTo>
                  <a:pt x="0" y="0"/>
                </a:moveTo>
                <a:lnTo>
                  <a:pt x="4972111" y="0"/>
                </a:lnTo>
                <a:lnTo>
                  <a:pt x="4972111" y="4698645"/>
                </a:lnTo>
                <a:lnTo>
                  <a:pt x="0" y="4698645"/>
                </a:lnTo>
                <a:lnTo>
                  <a:pt x="0" y="0"/>
                </a:lnTo>
                <a:close/>
              </a:path>
            </a:pathLst>
          </a:custGeom>
          <a:blipFill>
            <a:blip r:embed="rId2"/>
            <a:stretch>
              <a:fillRect l="0" t="0" r="0" b="0"/>
            </a:stretch>
          </a:blipFill>
        </p:spPr>
      </p:sp>
      <p:sp>
        <p:nvSpPr>
          <p:cNvPr name="Freeform 4" id="4"/>
          <p:cNvSpPr/>
          <p:nvPr/>
        </p:nvSpPr>
        <p:spPr>
          <a:xfrm flipH="false" flipV="false" rot="2594485">
            <a:off x="-1037073" y="3408482"/>
            <a:ext cx="3350251" cy="2467003"/>
          </a:xfrm>
          <a:custGeom>
            <a:avLst/>
            <a:gdLst/>
            <a:ahLst/>
            <a:cxnLst/>
            <a:rect r="r" b="b" t="t" l="l"/>
            <a:pathLst>
              <a:path h="2467003" w="3350251">
                <a:moveTo>
                  <a:pt x="0" y="0"/>
                </a:moveTo>
                <a:lnTo>
                  <a:pt x="3350252" y="0"/>
                </a:lnTo>
                <a:lnTo>
                  <a:pt x="3350252"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801944" y="-383505"/>
            <a:ext cx="4386532" cy="6031481"/>
          </a:xfrm>
          <a:custGeom>
            <a:avLst/>
            <a:gdLst/>
            <a:ahLst/>
            <a:cxnLst/>
            <a:rect r="r" b="b" t="t" l="l"/>
            <a:pathLst>
              <a:path h="6031481" w="4386532">
                <a:moveTo>
                  <a:pt x="0" y="0"/>
                </a:moveTo>
                <a:lnTo>
                  <a:pt x="4386532" y="0"/>
                </a:lnTo>
                <a:lnTo>
                  <a:pt x="4386532" y="6031481"/>
                </a:lnTo>
                <a:lnTo>
                  <a:pt x="0" y="6031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928595" y="-2751419"/>
            <a:ext cx="5317420" cy="5143396"/>
          </a:xfrm>
          <a:custGeom>
            <a:avLst/>
            <a:gdLst/>
            <a:ahLst/>
            <a:cxnLst/>
            <a:rect r="r" b="b" t="t" l="l"/>
            <a:pathLst>
              <a:path h="5143396" w="5317420">
                <a:moveTo>
                  <a:pt x="0" y="0"/>
                </a:moveTo>
                <a:lnTo>
                  <a:pt x="5317420" y="0"/>
                </a:lnTo>
                <a:lnTo>
                  <a:pt x="5317420" y="5143396"/>
                </a:lnTo>
                <a:lnTo>
                  <a:pt x="0" y="514339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721460" y="7019971"/>
            <a:ext cx="4476658" cy="4476658"/>
          </a:xfrm>
          <a:custGeom>
            <a:avLst/>
            <a:gdLst/>
            <a:ahLst/>
            <a:cxnLst/>
            <a:rect r="r" b="b" t="t" l="l"/>
            <a:pathLst>
              <a:path h="4476658" w="4476658">
                <a:moveTo>
                  <a:pt x="0" y="0"/>
                </a:moveTo>
                <a:lnTo>
                  <a:pt x="4476659" y="0"/>
                </a:lnTo>
                <a:lnTo>
                  <a:pt x="4476659" y="4476658"/>
                </a:lnTo>
                <a:lnTo>
                  <a:pt x="0" y="4476658"/>
                </a:lnTo>
                <a:lnTo>
                  <a:pt x="0" y="0"/>
                </a:lnTo>
                <a:close/>
              </a:path>
            </a:pathLst>
          </a:custGeom>
          <a:blipFill>
            <a:blip r:embed="rId9"/>
            <a:stretch>
              <a:fillRect l="0" t="0" r="0" b="0"/>
            </a:stretch>
          </a:blipFill>
        </p:spPr>
      </p:sp>
      <p:sp>
        <p:nvSpPr>
          <p:cNvPr name="Freeform 8" id="8"/>
          <p:cNvSpPr/>
          <p:nvPr/>
        </p:nvSpPr>
        <p:spPr>
          <a:xfrm flipH="false" flipV="false" rot="2594485">
            <a:off x="6507829" y="9271115"/>
            <a:ext cx="3350251" cy="2467003"/>
          </a:xfrm>
          <a:custGeom>
            <a:avLst/>
            <a:gdLst/>
            <a:ahLst/>
            <a:cxnLst/>
            <a:rect r="r" b="b" t="t" l="l"/>
            <a:pathLst>
              <a:path h="2467003" w="3350251">
                <a:moveTo>
                  <a:pt x="0" y="0"/>
                </a:moveTo>
                <a:lnTo>
                  <a:pt x="3350251" y="0"/>
                </a:lnTo>
                <a:lnTo>
                  <a:pt x="3350251"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2594485">
            <a:off x="12394156" y="-887683"/>
            <a:ext cx="3350251" cy="2467003"/>
          </a:xfrm>
          <a:custGeom>
            <a:avLst/>
            <a:gdLst/>
            <a:ahLst/>
            <a:cxnLst/>
            <a:rect r="r" b="b" t="t" l="l"/>
            <a:pathLst>
              <a:path h="2467003" w="3350251">
                <a:moveTo>
                  <a:pt x="0" y="0"/>
                </a:moveTo>
                <a:lnTo>
                  <a:pt x="3350251" y="0"/>
                </a:lnTo>
                <a:lnTo>
                  <a:pt x="3350251"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3966853" y="2391977"/>
            <a:ext cx="10354295" cy="5423062"/>
          </a:xfrm>
          <a:custGeom>
            <a:avLst/>
            <a:gdLst/>
            <a:ahLst/>
            <a:cxnLst/>
            <a:rect r="r" b="b" t="t" l="l"/>
            <a:pathLst>
              <a:path h="5423062" w="10354295">
                <a:moveTo>
                  <a:pt x="0" y="0"/>
                </a:moveTo>
                <a:lnTo>
                  <a:pt x="10354294" y="0"/>
                </a:lnTo>
                <a:lnTo>
                  <a:pt x="10354294" y="5423061"/>
                </a:lnTo>
                <a:lnTo>
                  <a:pt x="0" y="5423061"/>
                </a:lnTo>
                <a:lnTo>
                  <a:pt x="0" y="0"/>
                </a:lnTo>
                <a:close/>
              </a:path>
            </a:pathLst>
          </a:custGeom>
          <a:blipFill>
            <a:blip r:embed="rId10"/>
            <a:stretch>
              <a:fillRect l="0" t="0" r="0" b="0"/>
            </a:stretch>
          </a:blipFill>
        </p:spPr>
      </p:sp>
      <p:sp>
        <p:nvSpPr>
          <p:cNvPr name="TextBox 11" id="11"/>
          <p:cNvSpPr txBox="true"/>
          <p:nvPr/>
        </p:nvSpPr>
        <p:spPr>
          <a:xfrm rot="0">
            <a:off x="4051980" y="8091263"/>
            <a:ext cx="10184041" cy="422852"/>
          </a:xfrm>
          <a:prstGeom prst="rect">
            <a:avLst/>
          </a:prstGeom>
        </p:spPr>
        <p:txBody>
          <a:bodyPr anchor="t" rtlCol="false" tIns="0" lIns="0" bIns="0" rIns="0">
            <a:spAutoFit/>
          </a:bodyPr>
          <a:lstStyle/>
          <a:p>
            <a:pPr algn="l">
              <a:lnSpc>
                <a:spcPts val="3468"/>
              </a:lnSpc>
            </a:pPr>
            <a:r>
              <a:rPr lang="en-US" sz="2477" spc="27" b="true">
                <a:solidFill>
                  <a:srgbClr val="FFFFFF"/>
                </a:solidFill>
                <a:latin typeface="Hind Jalandhar Bold"/>
                <a:ea typeface="Hind Jalandhar Bold"/>
                <a:cs typeface="Hind Jalandhar Bold"/>
                <a:sym typeface="Hind Jalandhar Bold"/>
              </a:rPr>
              <a:t>Link Github: </a:t>
            </a:r>
            <a:r>
              <a:rPr lang="en-US" sz="2477" spc="27">
                <a:solidFill>
                  <a:srgbClr val="FFFFFF"/>
                </a:solidFill>
                <a:latin typeface="Hind Jalandhar"/>
                <a:ea typeface="Hind Jalandhar"/>
                <a:cs typeface="Hind Jalandhar"/>
                <a:sym typeface="Hind Jalandhar"/>
              </a:rPr>
              <a:t>https://github.com/ZnEb9/Sistem-Ijazah-Digital-Kelompok4</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70129"/>
        </a:solidFill>
      </p:bgPr>
    </p:bg>
    <p:spTree>
      <p:nvGrpSpPr>
        <p:cNvPr id="1" name=""/>
        <p:cNvGrpSpPr/>
        <p:nvPr/>
      </p:nvGrpSpPr>
      <p:grpSpPr>
        <a:xfrm>
          <a:off x="0" y="0"/>
          <a:ext cx="0" cy="0"/>
          <a:chOff x="0" y="0"/>
          <a:chExt cx="0" cy="0"/>
        </a:xfrm>
      </p:grpSpPr>
      <p:sp>
        <p:nvSpPr>
          <p:cNvPr name="Freeform 2" id="2"/>
          <p:cNvSpPr/>
          <p:nvPr/>
        </p:nvSpPr>
        <p:spPr>
          <a:xfrm flipH="false" flipV="false" rot="0">
            <a:off x="13315889" y="6265195"/>
            <a:ext cx="4972111" cy="4698645"/>
          </a:xfrm>
          <a:custGeom>
            <a:avLst/>
            <a:gdLst/>
            <a:ahLst/>
            <a:cxnLst/>
            <a:rect r="r" b="b" t="t" l="l"/>
            <a:pathLst>
              <a:path h="4698645" w="4972111">
                <a:moveTo>
                  <a:pt x="0" y="0"/>
                </a:moveTo>
                <a:lnTo>
                  <a:pt x="4972111" y="0"/>
                </a:lnTo>
                <a:lnTo>
                  <a:pt x="4972111" y="4698645"/>
                </a:lnTo>
                <a:lnTo>
                  <a:pt x="0" y="4698645"/>
                </a:lnTo>
                <a:lnTo>
                  <a:pt x="0" y="0"/>
                </a:lnTo>
                <a:close/>
              </a:path>
            </a:pathLst>
          </a:custGeom>
          <a:blipFill>
            <a:blip r:embed="rId2"/>
            <a:stretch>
              <a:fillRect l="0" t="0" r="0" b="0"/>
            </a:stretch>
          </a:blipFill>
        </p:spPr>
      </p:sp>
      <p:sp>
        <p:nvSpPr>
          <p:cNvPr name="Freeform 3" id="3"/>
          <p:cNvSpPr/>
          <p:nvPr/>
        </p:nvSpPr>
        <p:spPr>
          <a:xfrm flipH="false" flipV="false" rot="2594485">
            <a:off x="-1037073" y="3408482"/>
            <a:ext cx="3350251" cy="2467003"/>
          </a:xfrm>
          <a:custGeom>
            <a:avLst/>
            <a:gdLst/>
            <a:ahLst/>
            <a:cxnLst/>
            <a:rect r="r" b="b" t="t" l="l"/>
            <a:pathLst>
              <a:path h="2467003" w="3350251">
                <a:moveTo>
                  <a:pt x="0" y="0"/>
                </a:moveTo>
                <a:lnTo>
                  <a:pt x="3350252" y="0"/>
                </a:lnTo>
                <a:lnTo>
                  <a:pt x="3350252"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801944" y="-383505"/>
            <a:ext cx="4386532" cy="6031481"/>
          </a:xfrm>
          <a:custGeom>
            <a:avLst/>
            <a:gdLst/>
            <a:ahLst/>
            <a:cxnLst/>
            <a:rect r="r" b="b" t="t" l="l"/>
            <a:pathLst>
              <a:path h="6031481" w="4386532">
                <a:moveTo>
                  <a:pt x="0" y="0"/>
                </a:moveTo>
                <a:lnTo>
                  <a:pt x="4386532" y="0"/>
                </a:lnTo>
                <a:lnTo>
                  <a:pt x="4386532" y="6031481"/>
                </a:lnTo>
                <a:lnTo>
                  <a:pt x="0" y="6031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928595" y="-2751419"/>
            <a:ext cx="5317420" cy="5143396"/>
          </a:xfrm>
          <a:custGeom>
            <a:avLst/>
            <a:gdLst/>
            <a:ahLst/>
            <a:cxnLst/>
            <a:rect r="r" b="b" t="t" l="l"/>
            <a:pathLst>
              <a:path h="5143396" w="5317420">
                <a:moveTo>
                  <a:pt x="0" y="0"/>
                </a:moveTo>
                <a:lnTo>
                  <a:pt x="5317420" y="0"/>
                </a:lnTo>
                <a:lnTo>
                  <a:pt x="5317420" y="5143396"/>
                </a:lnTo>
                <a:lnTo>
                  <a:pt x="0" y="514339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721460" y="7019971"/>
            <a:ext cx="4476658" cy="4476658"/>
          </a:xfrm>
          <a:custGeom>
            <a:avLst/>
            <a:gdLst/>
            <a:ahLst/>
            <a:cxnLst/>
            <a:rect r="r" b="b" t="t" l="l"/>
            <a:pathLst>
              <a:path h="4476658" w="4476658">
                <a:moveTo>
                  <a:pt x="0" y="0"/>
                </a:moveTo>
                <a:lnTo>
                  <a:pt x="4476659" y="0"/>
                </a:lnTo>
                <a:lnTo>
                  <a:pt x="4476659" y="4476658"/>
                </a:lnTo>
                <a:lnTo>
                  <a:pt x="0" y="4476658"/>
                </a:lnTo>
                <a:lnTo>
                  <a:pt x="0" y="0"/>
                </a:lnTo>
                <a:close/>
              </a:path>
            </a:pathLst>
          </a:custGeom>
          <a:blipFill>
            <a:blip r:embed="rId9"/>
            <a:stretch>
              <a:fillRect l="0" t="0" r="0" b="0"/>
            </a:stretch>
          </a:blipFill>
        </p:spPr>
      </p:sp>
      <p:sp>
        <p:nvSpPr>
          <p:cNvPr name="Freeform 7" id="7"/>
          <p:cNvSpPr/>
          <p:nvPr/>
        </p:nvSpPr>
        <p:spPr>
          <a:xfrm flipH="false" flipV="false" rot="2594485">
            <a:off x="6507829" y="9271115"/>
            <a:ext cx="3350251" cy="2467003"/>
          </a:xfrm>
          <a:custGeom>
            <a:avLst/>
            <a:gdLst/>
            <a:ahLst/>
            <a:cxnLst/>
            <a:rect r="r" b="b" t="t" l="l"/>
            <a:pathLst>
              <a:path h="2467003" w="3350251">
                <a:moveTo>
                  <a:pt x="0" y="0"/>
                </a:moveTo>
                <a:lnTo>
                  <a:pt x="3350251" y="0"/>
                </a:lnTo>
                <a:lnTo>
                  <a:pt x="3350251"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2594485">
            <a:off x="12394156" y="-887683"/>
            <a:ext cx="3350251" cy="2467003"/>
          </a:xfrm>
          <a:custGeom>
            <a:avLst/>
            <a:gdLst/>
            <a:ahLst/>
            <a:cxnLst/>
            <a:rect r="r" b="b" t="t" l="l"/>
            <a:pathLst>
              <a:path h="2467003" w="3350251">
                <a:moveTo>
                  <a:pt x="0" y="0"/>
                </a:moveTo>
                <a:lnTo>
                  <a:pt x="3350251" y="0"/>
                </a:lnTo>
                <a:lnTo>
                  <a:pt x="3350251" y="2467003"/>
                </a:lnTo>
                <a:lnTo>
                  <a:pt x="0" y="2467003"/>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graphicFrame>
        <p:nvGraphicFramePr>
          <p:cNvPr name="Object 9" id="9"/>
          <p:cNvGraphicFramePr/>
          <p:nvPr/>
        </p:nvGraphicFramePr>
        <p:xfrm>
          <a:off x="3237875" y="2842200"/>
          <a:ext cx="5657850" cy="4400550"/>
        </p:xfrm>
        <a:graphic>
          <a:graphicData uri="http://schemas.openxmlformats.org/presentationml/2006/ole">
            <p:oleObj imgW="6781800" imgH="5524500" r:id="rId11" progId="Excel.Sheet.12" name="Worksheet">
              <p:embed/>
              <p:pic>
                <p:nvPicPr>
                  <p:cNvPr name="" id="0"/>
                  <p:cNvPicPr/>
                  <p:nvPr/>
                </p:nvPicPr>
                <p:blipFill>
                  <a:blip r:embed="rId10"/>
                  <a:stretch>
                    <a:fillRect/>
                  </a:stretch>
                </p:blipFill>
                <p:spPr>
                  <a:xfrm>
                    <a:off x="1270000" y="1270000"/>
                    <a:ext cx="1270000" cy="1270000"/>
                  </a:xfrm>
                  <a:prstGeom prst="rect"/>
                </p:spPr>
              </p:pic>
            </p:oleObj>
          </a:graphicData>
        </a:graphic>
      </p:graphicFrame>
      <p:sp>
        <p:nvSpPr>
          <p:cNvPr name="TextBox 10" id="10"/>
          <p:cNvSpPr txBox="true"/>
          <p:nvPr/>
        </p:nvSpPr>
        <p:spPr>
          <a:xfrm rot="0">
            <a:off x="2705610" y="1143000"/>
            <a:ext cx="13096334" cy="722630"/>
          </a:xfrm>
          <a:prstGeom prst="rect">
            <a:avLst/>
          </a:prstGeom>
        </p:spPr>
        <p:txBody>
          <a:bodyPr anchor="t" rtlCol="false" tIns="0" lIns="0" bIns="0" rIns="0">
            <a:spAutoFit/>
          </a:bodyPr>
          <a:lstStyle/>
          <a:p>
            <a:pPr algn="ctr">
              <a:lnSpc>
                <a:spcPts val="5334"/>
              </a:lnSpc>
            </a:pPr>
            <a:r>
              <a:rPr lang="en-US" sz="5499">
                <a:solidFill>
                  <a:srgbClr val="FFFFFF"/>
                </a:solidFill>
                <a:latin typeface="Alfa Slab One"/>
                <a:ea typeface="Alfa Slab One"/>
                <a:cs typeface="Alfa Slab One"/>
                <a:sym typeface="Alfa Slab One"/>
              </a:rPr>
              <a:t>Rencana Implementasi (U</a:t>
            </a:r>
            <a:r>
              <a:rPr lang="en-US" sz="5499">
                <a:solidFill>
                  <a:srgbClr val="FFFFFF"/>
                </a:solidFill>
                <a:latin typeface="Alfa Slab One"/>
                <a:ea typeface="Alfa Slab One"/>
                <a:cs typeface="Alfa Slab One"/>
                <a:sym typeface="Alfa Slab One"/>
              </a:rPr>
              <a:t>AS)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70129"/>
        </a:solidFill>
      </p:bgPr>
    </p:bg>
    <p:spTree>
      <p:nvGrpSpPr>
        <p:cNvPr id="1" name=""/>
        <p:cNvGrpSpPr/>
        <p:nvPr/>
      </p:nvGrpSpPr>
      <p:grpSpPr>
        <a:xfrm>
          <a:off x="0" y="0"/>
          <a:ext cx="0" cy="0"/>
          <a:chOff x="0" y="0"/>
          <a:chExt cx="0" cy="0"/>
        </a:xfrm>
      </p:grpSpPr>
      <p:sp>
        <p:nvSpPr>
          <p:cNvPr name="Freeform 2" id="2"/>
          <p:cNvSpPr/>
          <p:nvPr/>
        </p:nvSpPr>
        <p:spPr>
          <a:xfrm flipH="false" flipV="false" rot="0">
            <a:off x="-1074052" y="-780754"/>
            <a:ext cx="4476658" cy="4476658"/>
          </a:xfrm>
          <a:custGeom>
            <a:avLst/>
            <a:gdLst/>
            <a:ahLst/>
            <a:cxnLst/>
            <a:rect r="r" b="b" t="t" l="l"/>
            <a:pathLst>
              <a:path h="4476658" w="4476658">
                <a:moveTo>
                  <a:pt x="0" y="0"/>
                </a:moveTo>
                <a:lnTo>
                  <a:pt x="4476659" y="0"/>
                </a:lnTo>
                <a:lnTo>
                  <a:pt x="4476659" y="4476658"/>
                </a:lnTo>
                <a:lnTo>
                  <a:pt x="0" y="4476658"/>
                </a:lnTo>
                <a:lnTo>
                  <a:pt x="0" y="0"/>
                </a:lnTo>
                <a:close/>
              </a:path>
            </a:pathLst>
          </a:custGeom>
          <a:blipFill>
            <a:blip r:embed="rId2"/>
            <a:stretch>
              <a:fillRect l="0" t="0" r="0" b="0"/>
            </a:stretch>
          </a:blipFill>
        </p:spPr>
      </p:sp>
      <p:sp>
        <p:nvSpPr>
          <p:cNvPr name="TextBox 3" id="3"/>
          <p:cNvSpPr txBox="true"/>
          <p:nvPr/>
        </p:nvSpPr>
        <p:spPr>
          <a:xfrm rot="0">
            <a:off x="3402607" y="3061837"/>
            <a:ext cx="11482787" cy="4553852"/>
          </a:xfrm>
          <a:prstGeom prst="rect">
            <a:avLst/>
          </a:prstGeom>
        </p:spPr>
        <p:txBody>
          <a:bodyPr anchor="t" rtlCol="false" tIns="0" lIns="0" bIns="0" rIns="0">
            <a:spAutoFit/>
          </a:bodyPr>
          <a:lstStyle/>
          <a:p>
            <a:pPr algn="ctr">
              <a:lnSpc>
                <a:spcPts val="17426"/>
              </a:lnSpc>
            </a:pPr>
            <a:r>
              <a:rPr lang="en-US" sz="17965">
                <a:solidFill>
                  <a:srgbClr val="FFFFFF"/>
                </a:solidFill>
                <a:latin typeface="Alfa Slab One"/>
                <a:ea typeface="Alfa Slab One"/>
                <a:cs typeface="Alfa Slab One"/>
                <a:sym typeface="Alfa Slab One"/>
              </a:rPr>
              <a:t>Thank You</a:t>
            </a:r>
          </a:p>
        </p:txBody>
      </p:sp>
      <p:sp>
        <p:nvSpPr>
          <p:cNvPr name="Freeform 4" id="4"/>
          <p:cNvSpPr/>
          <p:nvPr/>
        </p:nvSpPr>
        <p:spPr>
          <a:xfrm flipH="false" flipV="false" rot="0">
            <a:off x="0" y="4469997"/>
            <a:ext cx="4386532" cy="6031481"/>
          </a:xfrm>
          <a:custGeom>
            <a:avLst/>
            <a:gdLst/>
            <a:ahLst/>
            <a:cxnLst/>
            <a:rect r="r" b="b" t="t" l="l"/>
            <a:pathLst>
              <a:path h="6031481" w="4386532">
                <a:moveTo>
                  <a:pt x="0" y="0"/>
                </a:moveTo>
                <a:lnTo>
                  <a:pt x="4386532" y="0"/>
                </a:lnTo>
                <a:lnTo>
                  <a:pt x="4386532" y="6031481"/>
                </a:lnTo>
                <a:lnTo>
                  <a:pt x="0" y="60314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558699" y="-1767537"/>
            <a:ext cx="5317420" cy="5143396"/>
          </a:xfrm>
          <a:custGeom>
            <a:avLst/>
            <a:gdLst/>
            <a:ahLst/>
            <a:cxnLst/>
            <a:rect r="r" b="b" t="t" l="l"/>
            <a:pathLst>
              <a:path h="5143396" w="5317420">
                <a:moveTo>
                  <a:pt x="0" y="0"/>
                </a:moveTo>
                <a:lnTo>
                  <a:pt x="5317420" y="0"/>
                </a:lnTo>
                <a:lnTo>
                  <a:pt x="5317420" y="5143396"/>
                </a:lnTo>
                <a:lnTo>
                  <a:pt x="0" y="51433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4729301" y="-1872444"/>
            <a:ext cx="6963438" cy="3969160"/>
          </a:xfrm>
          <a:custGeom>
            <a:avLst/>
            <a:gdLst/>
            <a:ahLst/>
            <a:cxnLst/>
            <a:rect r="r" b="b" t="t" l="l"/>
            <a:pathLst>
              <a:path h="3969160" w="6963438">
                <a:moveTo>
                  <a:pt x="0" y="0"/>
                </a:moveTo>
                <a:lnTo>
                  <a:pt x="6963438" y="0"/>
                </a:lnTo>
                <a:lnTo>
                  <a:pt x="6963438" y="3969159"/>
                </a:lnTo>
                <a:lnTo>
                  <a:pt x="0" y="3969159"/>
                </a:lnTo>
                <a:lnTo>
                  <a:pt x="0" y="0"/>
                </a:lnTo>
                <a:close/>
              </a:path>
            </a:pathLst>
          </a:custGeom>
          <a:blipFill>
            <a:blip r:embed="rId7"/>
            <a:stretch>
              <a:fillRect l="0" t="0" r="0" b="0"/>
            </a:stretch>
          </a:blipFill>
        </p:spPr>
      </p:sp>
      <p:sp>
        <p:nvSpPr>
          <p:cNvPr name="Freeform 7" id="7"/>
          <p:cNvSpPr/>
          <p:nvPr/>
        </p:nvSpPr>
        <p:spPr>
          <a:xfrm flipH="false" flipV="false" rot="0">
            <a:off x="5417020" y="7742321"/>
            <a:ext cx="5588000" cy="4114800"/>
          </a:xfrm>
          <a:custGeom>
            <a:avLst/>
            <a:gdLst/>
            <a:ahLst/>
            <a:cxnLst/>
            <a:rect r="r" b="b" t="t" l="l"/>
            <a:pathLst>
              <a:path h="4114800" w="5588000">
                <a:moveTo>
                  <a:pt x="0" y="0"/>
                </a:moveTo>
                <a:lnTo>
                  <a:pt x="5588000" y="0"/>
                </a:lnTo>
                <a:lnTo>
                  <a:pt x="55880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1692739" y="5143500"/>
            <a:ext cx="6993953" cy="6609285"/>
          </a:xfrm>
          <a:custGeom>
            <a:avLst/>
            <a:gdLst/>
            <a:ahLst/>
            <a:cxnLst/>
            <a:rect r="r" b="b" t="t" l="l"/>
            <a:pathLst>
              <a:path h="6609285" w="6993953">
                <a:moveTo>
                  <a:pt x="0" y="0"/>
                </a:moveTo>
                <a:lnTo>
                  <a:pt x="6993952" y="0"/>
                </a:lnTo>
                <a:lnTo>
                  <a:pt x="6993952" y="6609285"/>
                </a:lnTo>
                <a:lnTo>
                  <a:pt x="0" y="6609285"/>
                </a:lnTo>
                <a:lnTo>
                  <a:pt x="0" y="0"/>
                </a:lnTo>
                <a:close/>
              </a:path>
            </a:pathLst>
          </a:custGeom>
          <a:blipFill>
            <a:blip r:embed="rId10"/>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DAHInGVMSPU</dc:identifier>
  <dcterms:modified xsi:type="dcterms:W3CDTF">2011-08-01T06:04:30Z</dcterms:modified>
  <cp:revision>1</cp:revision>
  <dc:title>PROJECT UTS_KEL 4_C</dc:title>
</cp:coreProperties>
</file>